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53"/>
  </p:notesMasterIdLst>
  <p:sldIdLst>
    <p:sldId id="256" r:id="rId5"/>
    <p:sldId id="258" r:id="rId6"/>
    <p:sldId id="386" r:id="rId7"/>
    <p:sldId id="387" r:id="rId8"/>
    <p:sldId id="333" r:id="rId9"/>
    <p:sldId id="340" r:id="rId10"/>
    <p:sldId id="341" r:id="rId11"/>
    <p:sldId id="344" r:id="rId12"/>
    <p:sldId id="335" r:id="rId13"/>
    <p:sldId id="336" r:id="rId14"/>
    <p:sldId id="337" r:id="rId15"/>
    <p:sldId id="338" r:id="rId16"/>
    <p:sldId id="339" r:id="rId17"/>
    <p:sldId id="353" r:id="rId18"/>
    <p:sldId id="363" r:id="rId19"/>
    <p:sldId id="342" r:id="rId20"/>
    <p:sldId id="345" r:id="rId21"/>
    <p:sldId id="347" r:id="rId22"/>
    <p:sldId id="348" r:id="rId23"/>
    <p:sldId id="373" r:id="rId24"/>
    <p:sldId id="358" r:id="rId25"/>
    <p:sldId id="374" r:id="rId26"/>
    <p:sldId id="375" r:id="rId27"/>
    <p:sldId id="376" r:id="rId28"/>
    <p:sldId id="377" r:id="rId29"/>
    <p:sldId id="351" r:id="rId30"/>
    <p:sldId id="365" r:id="rId31"/>
    <p:sldId id="385" r:id="rId32"/>
    <p:sldId id="359" r:id="rId33"/>
    <p:sldId id="354" r:id="rId34"/>
    <p:sldId id="357" r:id="rId35"/>
    <p:sldId id="360" r:id="rId36"/>
    <p:sldId id="362" r:id="rId37"/>
    <p:sldId id="364" r:id="rId38"/>
    <p:sldId id="361" r:id="rId39"/>
    <p:sldId id="388" r:id="rId40"/>
    <p:sldId id="349" r:id="rId41"/>
    <p:sldId id="366" r:id="rId42"/>
    <p:sldId id="378" r:id="rId43"/>
    <p:sldId id="372" r:id="rId44"/>
    <p:sldId id="367" r:id="rId45"/>
    <p:sldId id="379" r:id="rId46"/>
    <p:sldId id="380" r:id="rId47"/>
    <p:sldId id="381" r:id="rId48"/>
    <p:sldId id="389" r:id="rId49"/>
    <p:sldId id="383" r:id="rId50"/>
    <p:sldId id="384" r:id="rId51"/>
    <p:sldId id="282" r:id="rId52"/>
  </p:sldIdLst>
  <p:sldSz cx="9144000" cy="5143500" type="screen16x9"/>
  <p:notesSz cx="6858000" cy="9144000"/>
  <p:embeddedFontLst>
    <p:embeddedFont>
      <p:font typeface="Economica" panose="02000506040000020004" pitchFamily="2" charset="77"/>
      <p:regular r:id="rId54"/>
      <p:bold r:id="rId55"/>
      <p:italic r:id="rId56"/>
      <p:boldItalic r:id="rId57"/>
    </p:embeddedFont>
    <p:embeddedFont>
      <p:font typeface="Open Sans" panose="020B0606030504020204" pitchFamily="3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FB2CDA-6665-FE42-4FB8-4BD22A873E77}" name="THIANG Lay Foo" initials="TF" userId="S::lfthiang@smu.edu.sg::f66ddd3b-8fd8-4b00-a4df-dc833c3567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D94A0-AEE1-474C-B2CD-DA6727BE6892}" v="11" dt="2026-10-22T14:06:20.362"/>
  </p1510:revLst>
</p1510:revInfo>
</file>

<file path=ppt/tableStyles.xml><?xml version="1.0" encoding="utf-8"?>
<a:tblStyleLst xmlns:a="http://schemas.openxmlformats.org/drawingml/2006/main" def="{FD335744-63B0-49A2-8954-48F3BB1E67D2}">
  <a:tblStyle styleId="{FD335744-63B0-49A2-8954-48F3BB1E67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38"/>
    <p:restoredTop sz="92299" autoAdjust="0"/>
  </p:normalViewPr>
  <p:slideViewPr>
    <p:cSldViewPr snapToGrid="0">
      <p:cViewPr varScale="1">
        <p:scale>
          <a:sx n="130" d="100"/>
          <a:sy n="130" d="100"/>
        </p:scale>
        <p:origin x="200" y="10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font" Target="fonts/font2.fntdata"/><Relationship Id="rId63" Type="http://schemas.openxmlformats.org/officeDocument/2006/relationships/viewProps" Target="viewProps.xml"/><Relationship Id="rId68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font" Target="fonts/font8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3.fntdata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6.fntdata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.fntdata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7.fntdata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 Lwin Khin" userId="S::lkshar@smu.edu.sg::33cb3c8a-ae33-4f55-be34-306cbe5b6d67" providerId="AD" clId="Web-{FEE16890-6FCD-89AE-546A-58656F53F5DC}"/>
    <pc:docChg chg="delSld">
      <pc:chgData name="SHAR Lwin Khin" userId="S::lkshar@smu.edu.sg::33cb3c8a-ae33-4f55-be34-306cbe5b6d67" providerId="AD" clId="Web-{FEE16890-6FCD-89AE-546A-58656F53F5DC}" dt="2026-10-10T05:06:11.214" v="0"/>
      <pc:docMkLst>
        <pc:docMk/>
      </pc:docMkLst>
      <pc:sldChg chg="del">
        <pc:chgData name="SHAR Lwin Khin" userId="S::lkshar@smu.edu.sg::33cb3c8a-ae33-4f55-be34-306cbe5b6d67" providerId="AD" clId="Web-{FEE16890-6FCD-89AE-546A-58656F53F5DC}" dt="2026-10-10T05:06:11.214" v="0"/>
        <pc:sldMkLst>
          <pc:docMk/>
          <pc:sldMk cId="868816699" sldId="370"/>
        </pc:sldMkLst>
      </pc:sldChg>
    </pc:docChg>
  </pc:docChgLst>
  <pc:docChgLst>
    <pc:chgData name="SHAR Lwin Khin" userId="33cb3c8a-ae33-4f55-be34-306cbe5b6d67" providerId="ADAL" clId="{EC909A2D-78C2-525E-811C-45F995EBE952}"/>
    <pc:docChg chg="undo custSel addSld delSld modSld">
      <pc:chgData name="SHAR Lwin Khin" userId="33cb3c8a-ae33-4f55-be34-306cbe5b6d67" providerId="ADAL" clId="{EC909A2D-78C2-525E-811C-45F995EBE952}" dt="2026-10-22T14:12:54.323" v="1650" actId="1035"/>
      <pc:docMkLst>
        <pc:docMk/>
      </pc:docMkLst>
      <pc:sldChg chg="modSp mod">
        <pc:chgData name="SHAR Lwin Khin" userId="33cb3c8a-ae33-4f55-be34-306cbe5b6d67" providerId="ADAL" clId="{EC909A2D-78C2-525E-811C-45F995EBE952}" dt="2026-10-21T12:20:08.940" v="478" actId="20577"/>
        <pc:sldMkLst>
          <pc:docMk/>
          <pc:sldMk cId="2824542508" sldId="335"/>
        </pc:sldMkLst>
        <pc:spChg chg="mod">
          <ac:chgData name="SHAR Lwin Khin" userId="33cb3c8a-ae33-4f55-be34-306cbe5b6d67" providerId="ADAL" clId="{EC909A2D-78C2-525E-811C-45F995EBE952}" dt="2026-10-21T09:20:49.182" v="37" actId="20577"/>
          <ac:spMkLst>
            <pc:docMk/>
            <pc:sldMk cId="2824542508" sldId="335"/>
            <ac:spMk id="2" creationId="{54F34522-EC2A-725A-F7C0-0662E47FEAAD}"/>
          </ac:spMkLst>
        </pc:spChg>
        <pc:spChg chg="mod">
          <ac:chgData name="SHAR Lwin Khin" userId="33cb3c8a-ae33-4f55-be34-306cbe5b6d67" providerId="ADAL" clId="{EC909A2D-78C2-525E-811C-45F995EBE952}" dt="2026-10-21T12:20:08.940" v="478" actId="20577"/>
          <ac:spMkLst>
            <pc:docMk/>
            <pc:sldMk cId="2824542508" sldId="335"/>
            <ac:spMk id="107" creationId="{BE93CF9D-7630-9354-2851-C76B4E47CC34}"/>
          </ac:spMkLst>
        </pc:spChg>
      </pc:sldChg>
      <pc:sldChg chg="modSp mod">
        <pc:chgData name="SHAR Lwin Khin" userId="33cb3c8a-ae33-4f55-be34-306cbe5b6d67" providerId="ADAL" clId="{EC909A2D-78C2-525E-811C-45F995EBE952}" dt="2026-10-21T10:05:58.589" v="87"/>
        <pc:sldMkLst>
          <pc:docMk/>
          <pc:sldMk cId="2605338540" sldId="336"/>
        </pc:sldMkLst>
        <pc:spChg chg="mod">
          <ac:chgData name="SHAR Lwin Khin" userId="33cb3c8a-ae33-4f55-be34-306cbe5b6d67" providerId="ADAL" clId="{EC909A2D-78C2-525E-811C-45F995EBE952}" dt="2026-10-21T10:05:58.589" v="87"/>
          <ac:spMkLst>
            <pc:docMk/>
            <pc:sldMk cId="2605338540" sldId="336"/>
            <ac:spMk id="2" creationId="{2AC8D90D-A98D-5156-B25A-57E76DA5724E}"/>
          </ac:spMkLst>
        </pc:spChg>
        <pc:spChg chg="mod">
          <ac:chgData name="SHAR Lwin Khin" userId="33cb3c8a-ae33-4f55-be34-306cbe5b6d67" providerId="ADAL" clId="{EC909A2D-78C2-525E-811C-45F995EBE952}" dt="2026-10-21T09:28:37.568" v="38" actId="20577"/>
          <ac:spMkLst>
            <pc:docMk/>
            <pc:sldMk cId="2605338540" sldId="336"/>
            <ac:spMk id="107" creationId="{FB0DE13F-10B9-0C3E-C354-BC68A86CD267}"/>
          </ac:spMkLst>
        </pc:spChg>
      </pc:sldChg>
      <pc:sldChg chg="modSp mod">
        <pc:chgData name="SHAR Lwin Khin" userId="33cb3c8a-ae33-4f55-be34-306cbe5b6d67" providerId="ADAL" clId="{EC909A2D-78C2-525E-811C-45F995EBE952}" dt="2026-10-21T10:04:45.869" v="48" actId="20577"/>
        <pc:sldMkLst>
          <pc:docMk/>
          <pc:sldMk cId="3210111313" sldId="337"/>
        </pc:sldMkLst>
        <pc:spChg chg="mod">
          <ac:chgData name="SHAR Lwin Khin" userId="33cb3c8a-ae33-4f55-be34-306cbe5b6d67" providerId="ADAL" clId="{EC909A2D-78C2-525E-811C-45F995EBE952}" dt="2026-10-21T10:04:45.869" v="48" actId="20577"/>
          <ac:spMkLst>
            <pc:docMk/>
            <pc:sldMk cId="3210111313" sldId="337"/>
            <ac:spMk id="107" creationId="{854DF6CC-21B8-45E9-1B65-F076CE670505}"/>
          </ac:spMkLst>
        </pc:spChg>
      </pc:sldChg>
      <pc:sldChg chg="modSp mod">
        <pc:chgData name="SHAR Lwin Khin" userId="33cb3c8a-ae33-4f55-be34-306cbe5b6d67" providerId="ADAL" clId="{EC909A2D-78C2-525E-811C-45F995EBE952}" dt="2026-10-21T10:11:14.907" v="144" actId="20577"/>
        <pc:sldMkLst>
          <pc:docMk/>
          <pc:sldMk cId="606160607" sldId="338"/>
        </pc:sldMkLst>
        <pc:spChg chg="mod">
          <ac:chgData name="SHAR Lwin Khin" userId="33cb3c8a-ae33-4f55-be34-306cbe5b6d67" providerId="ADAL" clId="{EC909A2D-78C2-525E-811C-45F995EBE952}" dt="2026-10-21T10:11:14.907" v="144" actId="20577"/>
          <ac:spMkLst>
            <pc:docMk/>
            <pc:sldMk cId="606160607" sldId="338"/>
            <ac:spMk id="107" creationId="{ACE57C2A-5EF5-F544-C42E-7B2E4FF7FFD9}"/>
          </ac:spMkLst>
        </pc:spChg>
      </pc:sldChg>
      <pc:sldChg chg="modSp mod">
        <pc:chgData name="SHAR Lwin Khin" userId="33cb3c8a-ae33-4f55-be34-306cbe5b6d67" providerId="ADAL" clId="{EC909A2D-78C2-525E-811C-45F995EBE952}" dt="2026-10-21T10:14:41.103" v="279" actId="20577"/>
        <pc:sldMkLst>
          <pc:docMk/>
          <pc:sldMk cId="919286238" sldId="339"/>
        </pc:sldMkLst>
        <pc:spChg chg="mod">
          <ac:chgData name="SHAR Lwin Khin" userId="33cb3c8a-ae33-4f55-be34-306cbe5b6d67" providerId="ADAL" clId="{EC909A2D-78C2-525E-811C-45F995EBE952}" dt="2026-10-21T10:14:41.103" v="279" actId="20577"/>
          <ac:spMkLst>
            <pc:docMk/>
            <pc:sldMk cId="919286238" sldId="339"/>
            <ac:spMk id="107" creationId="{04BAC0B1-F004-D143-4FAE-2E33F10B5050}"/>
          </ac:spMkLst>
        </pc:spChg>
      </pc:sldChg>
      <pc:sldChg chg="modSp mod">
        <pc:chgData name="SHAR Lwin Khin" userId="33cb3c8a-ae33-4f55-be34-306cbe5b6d67" providerId="ADAL" clId="{EC909A2D-78C2-525E-811C-45F995EBE952}" dt="2026-10-21T10:21:25.409" v="459" actId="14100"/>
        <pc:sldMkLst>
          <pc:docMk/>
          <pc:sldMk cId="3177838431" sldId="345"/>
        </pc:sldMkLst>
        <pc:spChg chg="mod">
          <ac:chgData name="SHAR Lwin Khin" userId="33cb3c8a-ae33-4f55-be34-306cbe5b6d67" providerId="ADAL" clId="{EC909A2D-78C2-525E-811C-45F995EBE952}" dt="2026-10-21T10:20:11.795" v="370" actId="20577"/>
          <ac:spMkLst>
            <pc:docMk/>
            <pc:sldMk cId="3177838431" sldId="345"/>
            <ac:spMk id="4" creationId="{BE319620-6241-9298-5803-B631F35AAFFF}"/>
          </ac:spMkLst>
        </pc:spChg>
        <pc:spChg chg="mod">
          <ac:chgData name="SHAR Lwin Khin" userId="33cb3c8a-ae33-4f55-be34-306cbe5b6d67" providerId="ADAL" clId="{EC909A2D-78C2-525E-811C-45F995EBE952}" dt="2026-10-21T10:21:25.409" v="459" actId="14100"/>
          <ac:spMkLst>
            <pc:docMk/>
            <pc:sldMk cId="3177838431" sldId="345"/>
            <ac:spMk id="5" creationId="{33F2DE16-610A-4C9C-7F27-F5B7D9744564}"/>
          </ac:spMkLst>
        </pc:spChg>
      </pc:sldChg>
      <pc:sldChg chg="modSp mod">
        <pc:chgData name="SHAR Lwin Khin" userId="33cb3c8a-ae33-4f55-be34-306cbe5b6d67" providerId="ADAL" clId="{EC909A2D-78C2-525E-811C-45F995EBE952}" dt="2026-10-22T03:09:44.339" v="541" actId="20577"/>
        <pc:sldMkLst>
          <pc:docMk/>
          <pc:sldMk cId="1559825381" sldId="347"/>
        </pc:sldMkLst>
        <pc:spChg chg="mod">
          <ac:chgData name="SHAR Lwin Khin" userId="33cb3c8a-ae33-4f55-be34-306cbe5b6d67" providerId="ADAL" clId="{EC909A2D-78C2-525E-811C-45F995EBE952}" dt="2026-10-21T10:21:59.448" v="461" actId="14100"/>
          <ac:spMkLst>
            <pc:docMk/>
            <pc:sldMk cId="1559825381" sldId="347"/>
            <ac:spMk id="3" creationId="{FC16990C-59D6-EB01-1129-943B16FD3E3D}"/>
          </ac:spMkLst>
        </pc:spChg>
        <pc:spChg chg="mod">
          <ac:chgData name="SHAR Lwin Khin" userId="33cb3c8a-ae33-4f55-be34-306cbe5b6d67" providerId="ADAL" clId="{EC909A2D-78C2-525E-811C-45F995EBE952}" dt="2026-10-22T03:09:44.339" v="541" actId="20577"/>
          <ac:spMkLst>
            <pc:docMk/>
            <pc:sldMk cId="1559825381" sldId="347"/>
            <ac:spMk id="4" creationId="{71C88108-59E1-5BD8-1D33-988F9488E727}"/>
          </ac:spMkLst>
        </pc:spChg>
      </pc:sldChg>
      <pc:sldChg chg="modSp mod">
        <pc:chgData name="SHAR Lwin Khin" userId="33cb3c8a-ae33-4f55-be34-306cbe5b6d67" providerId="ADAL" clId="{EC909A2D-78C2-525E-811C-45F995EBE952}" dt="2026-10-22T03:12:03.832" v="549" actId="20577"/>
        <pc:sldMkLst>
          <pc:docMk/>
          <pc:sldMk cId="335861984" sldId="348"/>
        </pc:sldMkLst>
        <pc:spChg chg="mod">
          <ac:chgData name="SHAR Lwin Khin" userId="33cb3c8a-ae33-4f55-be34-306cbe5b6d67" providerId="ADAL" clId="{EC909A2D-78C2-525E-811C-45F995EBE952}" dt="2026-10-22T03:12:03.832" v="549" actId="20577"/>
          <ac:spMkLst>
            <pc:docMk/>
            <pc:sldMk cId="335861984" sldId="348"/>
            <ac:spMk id="4" creationId="{803FC83B-9601-C14F-904C-C16AD50307F1}"/>
          </ac:spMkLst>
        </pc:spChg>
        <pc:spChg chg="mod">
          <ac:chgData name="SHAR Lwin Khin" userId="33cb3c8a-ae33-4f55-be34-306cbe5b6d67" providerId="ADAL" clId="{EC909A2D-78C2-525E-811C-45F995EBE952}" dt="2026-10-21T10:23:50.151" v="464" actId="255"/>
          <ac:spMkLst>
            <pc:docMk/>
            <pc:sldMk cId="335861984" sldId="348"/>
            <ac:spMk id="5" creationId="{363A59A3-3AF8-0795-B9DA-7E60A902B8E5}"/>
          </ac:spMkLst>
        </pc:spChg>
        <pc:spChg chg="mod">
          <ac:chgData name="SHAR Lwin Khin" userId="33cb3c8a-ae33-4f55-be34-306cbe5b6d67" providerId="ADAL" clId="{EC909A2D-78C2-525E-811C-45F995EBE952}" dt="2026-10-21T10:23:54.495" v="465" actId="255"/>
          <ac:spMkLst>
            <pc:docMk/>
            <pc:sldMk cId="335861984" sldId="348"/>
            <ac:spMk id="6" creationId="{0BD36A79-C61E-0F50-AED2-E2D891184CA0}"/>
          </ac:spMkLst>
        </pc:spChg>
        <pc:spChg chg="mod">
          <ac:chgData name="SHAR Lwin Khin" userId="33cb3c8a-ae33-4f55-be34-306cbe5b6d67" providerId="ADAL" clId="{EC909A2D-78C2-525E-811C-45F995EBE952}" dt="2026-10-21T10:24:06.759" v="466" actId="14100"/>
          <ac:spMkLst>
            <pc:docMk/>
            <pc:sldMk cId="335861984" sldId="348"/>
            <ac:spMk id="7" creationId="{C409763C-D820-07AF-3845-C06D6A07D6B5}"/>
          </ac:spMkLst>
        </pc:spChg>
      </pc:sldChg>
      <pc:sldChg chg="modSp mod">
        <pc:chgData name="SHAR Lwin Khin" userId="33cb3c8a-ae33-4f55-be34-306cbe5b6d67" providerId="ADAL" clId="{EC909A2D-78C2-525E-811C-45F995EBE952}" dt="2026-10-22T05:09:04.407" v="1096" actId="20577"/>
        <pc:sldMkLst>
          <pc:docMk/>
          <pc:sldMk cId="2944674127" sldId="349"/>
        </pc:sldMkLst>
        <pc:spChg chg="mod">
          <ac:chgData name="SHAR Lwin Khin" userId="33cb3c8a-ae33-4f55-be34-306cbe5b6d67" providerId="ADAL" clId="{EC909A2D-78C2-525E-811C-45F995EBE952}" dt="2026-10-22T05:09:04.407" v="1096" actId="20577"/>
          <ac:spMkLst>
            <pc:docMk/>
            <pc:sldMk cId="2944674127" sldId="349"/>
            <ac:spMk id="211" creationId="{830A5A48-964B-0873-99D0-24F613087D41}"/>
          </ac:spMkLst>
        </pc:spChg>
      </pc:sldChg>
      <pc:sldChg chg="modSp mod">
        <pc:chgData name="SHAR Lwin Khin" userId="33cb3c8a-ae33-4f55-be34-306cbe5b6d67" providerId="ADAL" clId="{EC909A2D-78C2-525E-811C-45F995EBE952}" dt="2026-10-21T12:34:56.807" v="523" actId="20577"/>
        <pc:sldMkLst>
          <pc:docMk/>
          <pc:sldMk cId="2517122164" sldId="353"/>
        </pc:sldMkLst>
        <pc:spChg chg="mod">
          <ac:chgData name="SHAR Lwin Khin" userId="33cb3c8a-ae33-4f55-be34-306cbe5b6d67" providerId="ADAL" clId="{EC909A2D-78C2-525E-811C-45F995EBE952}" dt="2026-10-21T10:15:37.956" v="321" actId="20577"/>
          <ac:spMkLst>
            <pc:docMk/>
            <pc:sldMk cId="2517122164" sldId="353"/>
            <ac:spMk id="2" creationId="{1FF7521C-BD20-9C81-6414-10A3724CE342}"/>
          </ac:spMkLst>
        </pc:spChg>
        <pc:spChg chg="mod">
          <ac:chgData name="SHAR Lwin Khin" userId="33cb3c8a-ae33-4f55-be34-306cbe5b6d67" providerId="ADAL" clId="{EC909A2D-78C2-525E-811C-45F995EBE952}" dt="2026-10-21T12:34:56.807" v="523" actId="20577"/>
          <ac:spMkLst>
            <pc:docMk/>
            <pc:sldMk cId="2517122164" sldId="353"/>
            <ac:spMk id="107" creationId="{8B91701E-FD9A-6060-406D-7CA9E87ADD3D}"/>
          </ac:spMkLst>
        </pc:spChg>
      </pc:sldChg>
      <pc:sldChg chg="modSp mod">
        <pc:chgData name="SHAR Lwin Khin" userId="33cb3c8a-ae33-4f55-be34-306cbe5b6d67" providerId="ADAL" clId="{EC909A2D-78C2-525E-811C-45F995EBE952}" dt="2026-10-22T04:32:20.550" v="690" actId="20577"/>
        <pc:sldMkLst>
          <pc:docMk/>
          <pc:sldMk cId="3407987927" sldId="357"/>
        </pc:sldMkLst>
        <pc:spChg chg="mod">
          <ac:chgData name="SHAR Lwin Khin" userId="33cb3c8a-ae33-4f55-be34-306cbe5b6d67" providerId="ADAL" clId="{EC909A2D-78C2-525E-811C-45F995EBE952}" dt="2026-10-22T04:32:20.550" v="690" actId="20577"/>
          <ac:spMkLst>
            <pc:docMk/>
            <pc:sldMk cId="3407987927" sldId="357"/>
            <ac:spMk id="127" creationId="{E04FEF16-D15E-F5AC-423E-98D984D4A525}"/>
          </ac:spMkLst>
        </pc:spChg>
      </pc:sldChg>
      <pc:sldChg chg="modSp mod">
        <pc:chgData name="SHAR Lwin Khin" userId="33cb3c8a-ae33-4f55-be34-306cbe5b6d67" providerId="ADAL" clId="{EC909A2D-78C2-525E-811C-45F995EBE952}" dt="2026-10-22T04:24:25.124" v="689" actId="6549"/>
        <pc:sldMkLst>
          <pc:docMk/>
          <pc:sldMk cId="1267338417" sldId="359"/>
        </pc:sldMkLst>
        <pc:spChg chg="mod">
          <ac:chgData name="SHAR Lwin Khin" userId="33cb3c8a-ae33-4f55-be34-306cbe5b6d67" providerId="ADAL" clId="{EC909A2D-78C2-525E-811C-45F995EBE952}" dt="2026-10-22T04:24:25.124" v="689" actId="6549"/>
          <ac:spMkLst>
            <pc:docMk/>
            <pc:sldMk cId="1267338417" sldId="359"/>
            <ac:spMk id="126" creationId="{4EC34589-13B6-5796-F686-EF07AD18ACA0}"/>
          </ac:spMkLst>
        </pc:spChg>
      </pc:sldChg>
      <pc:sldChg chg="modSp mod">
        <pc:chgData name="SHAR Lwin Khin" userId="33cb3c8a-ae33-4f55-be34-306cbe5b6d67" providerId="ADAL" clId="{EC909A2D-78C2-525E-811C-45F995EBE952}" dt="2026-10-22T04:36:42.723" v="704" actId="14100"/>
        <pc:sldMkLst>
          <pc:docMk/>
          <pc:sldMk cId="4287149924" sldId="360"/>
        </pc:sldMkLst>
        <pc:spChg chg="mod">
          <ac:chgData name="SHAR Lwin Khin" userId="33cb3c8a-ae33-4f55-be34-306cbe5b6d67" providerId="ADAL" clId="{EC909A2D-78C2-525E-811C-45F995EBE952}" dt="2026-10-22T04:36:42.723" v="704" actId="14100"/>
          <ac:spMkLst>
            <pc:docMk/>
            <pc:sldMk cId="4287149924" sldId="360"/>
            <ac:spMk id="4" creationId="{388E76F4-D179-6A04-D59E-DD049812CE65}"/>
          </ac:spMkLst>
        </pc:spChg>
      </pc:sldChg>
      <pc:sldChg chg="addSp modSp mod">
        <pc:chgData name="SHAR Lwin Khin" userId="33cb3c8a-ae33-4f55-be34-306cbe5b6d67" providerId="ADAL" clId="{EC909A2D-78C2-525E-811C-45F995EBE952}" dt="2026-10-22T04:17:00.490" v="688" actId="14100"/>
        <pc:sldMkLst>
          <pc:docMk/>
          <pc:sldMk cId="64287102" sldId="365"/>
        </pc:sldMkLst>
        <pc:spChg chg="add mod">
          <ac:chgData name="SHAR Lwin Khin" userId="33cb3c8a-ae33-4f55-be34-306cbe5b6d67" providerId="ADAL" clId="{EC909A2D-78C2-525E-811C-45F995EBE952}" dt="2026-10-22T04:17:00.490" v="688" actId="14100"/>
          <ac:spMkLst>
            <pc:docMk/>
            <pc:sldMk cId="64287102" sldId="365"/>
            <ac:spMk id="2" creationId="{2A1E8327-8F71-1A1A-B5D1-22F18FF275B6}"/>
          </ac:spMkLst>
        </pc:spChg>
        <pc:spChg chg="mod">
          <ac:chgData name="SHAR Lwin Khin" userId="33cb3c8a-ae33-4f55-be34-306cbe5b6d67" providerId="ADAL" clId="{EC909A2D-78C2-525E-811C-45F995EBE952}" dt="2026-10-22T04:11:20.124" v="665" actId="20577"/>
          <ac:spMkLst>
            <pc:docMk/>
            <pc:sldMk cId="64287102" sldId="365"/>
            <ac:spMk id="127" creationId="{B4E066FF-F48C-210E-D6ED-BD20E5939DBF}"/>
          </ac:spMkLst>
        </pc:spChg>
      </pc:sldChg>
      <pc:sldChg chg="modSp mod">
        <pc:chgData name="SHAR Lwin Khin" userId="33cb3c8a-ae33-4f55-be34-306cbe5b6d67" providerId="ADAL" clId="{EC909A2D-78C2-525E-811C-45F995EBE952}" dt="2026-10-22T05:13:21.841" v="1097" actId="13926"/>
        <pc:sldMkLst>
          <pc:docMk/>
          <pc:sldMk cId="3841190654" sldId="366"/>
        </pc:sldMkLst>
        <pc:spChg chg="mod">
          <ac:chgData name="SHAR Lwin Khin" userId="33cb3c8a-ae33-4f55-be34-306cbe5b6d67" providerId="ADAL" clId="{EC909A2D-78C2-525E-811C-45F995EBE952}" dt="2026-10-22T05:13:21.841" v="1097" actId="13926"/>
          <ac:spMkLst>
            <pc:docMk/>
            <pc:sldMk cId="3841190654" sldId="366"/>
            <ac:spMk id="211" creationId="{E4D284E6-B437-772B-07CF-88B4F53B3DC6}"/>
          </ac:spMkLst>
        </pc:spChg>
      </pc:sldChg>
      <pc:sldChg chg="modSp mod">
        <pc:chgData name="SHAR Lwin Khin" userId="33cb3c8a-ae33-4f55-be34-306cbe5b6d67" providerId="ADAL" clId="{EC909A2D-78C2-525E-811C-45F995EBE952}" dt="2026-10-22T05:27:15.705" v="1228" actId="13926"/>
        <pc:sldMkLst>
          <pc:docMk/>
          <pc:sldMk cId="371503897" sldId="372"/>
        </pc:sldMkLst>
        <pc:spChg chg="mod">
          <ac:chgData name="SHAR Lwin Khin" userId="33cb3c8a-ae33-4f55-be34-306cbe5b6d67" providerId="ADAL" clId="{EC909A2D-78C2-525E-811C-45F995EBE952}" dt="2026-10-22T05:27:15.705" v="1228" actId="13926"/>
          <ac:spMkLst>
            <pc:docMk/>
            <pc:sldMk cId="371503897" sldId="372"/>
            <ac:spMk id="211" creationId="{6B6EF8A3-E8B5-B8CD-5F91-19FACB57F248}"/>
          </ac:spMkLst>
        </pc:spChg>
      </pc:sldChg>
      <pc:sldChg chg="addSp modSp mod">
        <pc:chgData name="SHAR Lwin Khin" userId="33cb3c8a-ae33-4f55-be34-306cbe5b6d67" providerId="ADAL" clId="{EC909A2D-78C2-525E-811C-45F995EBE952}" dt="2026-10-22T14:06:48.871" v="1634" actId="207"/>
        <pc:sldMkLst>
          <pc:docMk/>
          <pc:sldMk cId="456936671" sldId="381"/>
        </pc:sldMkLst>
        <pc:spChg chg="add mod">
          <ac:chgData name="SHAR Lwin Khin" userId="33cb3c8a-ae33-4f55-be34-306cbe5b6d67" providerId="ADAL" clId="{EC909A2D-78C2-525E-811C-45F995EBE952}" dt="2026-10-22T14:06:48.871" v="1634" actId="207"/>
          <ac:spMkLst>
            <pc:docMk/>
            <pc:sldMk cId="456936671" sldId="381"/>
            <ac:spMk id="4" creationId="{72D5D5EC-CFDF-42FB-D813-FBABB580E1AB}"/>
          </ac:spMkLst>
        </pc:spChg>
        <pc:spChg chg="mod">
          <ac:chgData name="SHAR Lwin Khin" userId="33cb3c8a-ae33-4f55-be34-306cbe5b6d67" providerId="ADAL" clId="{EC909A2D-78C2-525E-811C-45F995EBE952}" dt="2026-10-22T14:01:55.909" v="1485" actId="20577"/>
          <ac:spMkLst>
            <pc:docMk/>
            <pc:sldMk cId="456936671" sldId="381"/>
            <ac:spMk id="211" creationId="{DA10BF56-3DEF-C5BF-5E91-C3B09AC85E5E}"/>
          </ac:spMkLst>
        </pc:spChg>
      </pc:sldChg>
      <pc:sldChg chg="modSp del mod">
        <pc:chgData name="SHAR Lwin Khin" userId="33cb3c8a-ae33-4f55-be34-306cbe5b6d67" providerId="ADAL" clId="{EC909A2D-78C2-525E-811C-45F995EBE952}" dt="2026-10-22T13:48:53.190" v="1464" actId="2696"/>
        <pc:sldMkLst>
          <pc:docMk/>
          <pc:sldMk cId="1374900007" sldId="382"/>
        </pc:sldMkLst>
        <pc:spChg chg="mod">
          <ac:chgData name="SHAR Lwin Khin" userId="33cb3c8a-ae33-4f55-be34-306cbe5b6d67" providerId="ADAL" clId="{EC909A2D-78C2-525E-811C-45F995EBE952}" dt="2026-10-22T05:50:59.842" v="1301" actId="113"/>
          <ac:spMkLst>
            <pc:docMk/>
            <pc:sldMk cId="1374900007" sldId="382"/>
            <ac:spMk id="211" creationId="{CC3F4424-2EFA-4AA1-9579-1EDFAD7B39ED}"/>
          </ac:spMkLst>
        </pc:spChg>
      </pc:sldChg>
      <pc:sldChg chg="addSp modSp mod">
        <pc:chgData name="SHAR Lwin Khin" userId="33cb3c8a-ae33-4f55-be34-306cbe5b6d67" providerId="ADAL" clId="{EC909A2D-78C2-525E-811C-45F995EBE952}" dt="2026-10-22T14:02:29.516" v="1487" actId="20577"/>
        <pc:sldMkLst>
          <pc:docMk/>
          <pc:sldMk cId="3376449973" sldId="383"/>
        </pc:sldMkLst>
        <pc:spChg chg="mod">
          <ac:chgData name="SHAR Lwin Khin" userId="33cb3c8a-ae33-4f55-be34-306cbe5b6d67" providerId="ADAL" clId="{EC909A2D-78C2-525E-811C-45F995EBE952}" dt="2026-10-22T14:02:29.516" v="1487" actId="20577"/>
          <ac:spMkLst>
            <pc:docMk/>
            <pc:sldMk cId="3376449973" sldId="383"/>
            <ac:spMk id="211" creationId="{E0390592-F92C-36B5-5701-13A6B9472320}"/>
          </ac:spMkLst>
        </pc:spChg>
        <pc:picChg chg="add mod">
          <ac:chgData name="SHAR Lwin Khin" userId="33cb3c8a-ae33-4f55-be34-306cbe5b6d67" providerId="ADAL" clId="{EC909A2D-78C2-525E-811C-45F995EBE952}" dt="2026-10-22T06:01:50.968" v="1415" actId="1076"/>
          <ac:picMkLst>
            <pc:docMk/>
            <pc:sldMk cId="3376449973" sldId="383"/>
            <ac:picMk id="5" creationId="{1C144610-864E-1A4C-6C62-3F6FA50F6455}"/>
          </ac:picMkLst>
        </pc:picChg>
      </pc:sldChg>
      <pc:sldChg chg="addSp modSp mod">
        <pc:chgData name="SHAR Lwin Khin" userId="33cb3c8a-ae33-4f55-be34-306cbe5b6d67" providerId="ADAL" clId="{EC909A2D-78C2-525E-811C-45F995EBE952}" dt="2026-10-22T13:49:12.654" v="1474" actId="20577"/>
        <pc:sldMkLst>
          <pc:docMk/>
          <pc:sldMk cId="1004113563" sldId="384"/>
        </pc:sldMkLst>
        <pc:spChg chg="mod">
          <ac:chgData name="SHAR Lwin Khin" userId="33cb3c8a-ae33-4f55-be34-306cbe5b6d67" providerId="ADAL" clId="{EC909A2D-78C2-525E-811C-45F995EBE952}" dt="2026-10-22T13:49:12.654" v="1474" actId="20577"/>
          <ac:spMkLst>
            <pc:docMk/>
            <pc:sldMk cId="1004113563" sldId="384"/>
            <ac:spMk id="211" creationId="{76C9C275-00B4-E9B6-856C-BBA31B26EAFA}"/>
          </ac:spMkLst>
        </pc:spChg>
        <pc:picChg chg="add mod">
          <ac:chgData name="SHAR Lwin Khin" userId="33cb3c8a-ae33-4f55-be34-306cbe5b6d67" providerId="ADAL" clId="{EC909A2D-78C2-525E-811C-45F995EBE952}" dt="2026-10-22T06:05:11.360" v="1463" actId="1076"/>
          <ac:picMkLst>
            <pc:docMk/>
            <pc:sldMk cId="1004113563" sldId="384"/>
            <ac:picMk id="5" creationId="{8D277682-6770-1A3A-A297-EA81FA254EAB}"/>
          </ac:picMkLst>
        </pc:picChg>
      </pc:sldChg>
      <pc:sldChg chg="modSp mod">
        <pc:chgData name="SHAR Lwin Khin" userId="33cb3c8a-ae33-4f55-be34-306cbe5b6d67" providerId="ADAL" clId="{EC909A2D-78C2-525E-811C-45F995EBE952}" dt="2026-10-21T10:08:03.298" v="128" actId="14100"/>
        <pc:sldMkLst>
          <pc:docMk/>
          <pc:sldMk cId="1846247974" sldId="386"/>
        </pc:sldMkLst>
        <pc:spChg chg="mod">
          <ac:chgData name="SHAR Lwin Khin" userId="33cb3c8a-ae33-4f55-be34-306cbe5b6d67" providerId="ADAL" clId="{EC909A2D-78C2-525E-811C-45F995EBE952}" dt="2026-10-21T10:08:03.298" v="128" actId="14100"/>
          <ac:spMkLst>
            <pc:docMk/>
            <pc:sldMk cId="1846247974" sldId="386"/>
            <ac:spMk id="2" creationId="{0D45A9F0-4A86-8647-F9D9-636553B64F81}"/>
          </ac:spMkLst>
        </pc:spChg>
        <pc:spChg chg="mod">
          <ac:chgData name="SHAR Lwin Khin" userId="33cb3c8a-ae33-4f55-be34-306cbe5b6d67" providerId="ADAL" clId="{EC909A2D-78C2-525E-811C-45F995EBE952}" dt="2026-10-21T10:07:12.057" v="105" actId="207"/>
          <ac:spMkLst>
            <pc:docMk/>
            <pc:sldMk cId="1846247974" sldId="386"/>
            <ac:spMk id="106" creationId="{70A9F041-E1A0-A308-843B-AB0FEFE6A109}"/>
          </ac:spMkLst>
        </pc:spChg>
      </pc:sldChg>
      <pc:sldChg chg="modSp mod">
        <pc:chgData name="SHAR Lwin Khin" userId="33cb3c8a-ae33-4f55-be34-306cbe5b6d67" providerId="ADAL" clId="{EC909A2D-78C2-525E-811C-45F995EBE952}" dt="2026-10-21T10:07:23.229" v="107" actId="14100"/>
        <pc:sldMkLst>
          <pc:docMk/>
          <pc:sldMk cId="357712669" sldId="387"/>
        </pc:sldMkLst>
        <pc:spChg chg="mod">
          <ac:chgData name="SHAR Lwin Khin" userId="33cb3c8a-ae33-4f55-be34-306cbe5b6d67" providerId="ADAL" clId="{EC909A2D-78C2-525E-811C-45F995EBE952}" dt="2026-10-21T10:07:23.229" v="107" actId="14100"/>
          <ac:spMkLst>
            <pc:docMk/>
            <pc:sldMk cId="357712669" sldId="387"/>
            <ac:spMk id="2" creationId="{537E7B87-3D7E-BE7B-A813-ED7BDA4DA5CD}"/>
          </ac:spMkLst>
        </pc:spChg>
        <pc:spChg chg="mod">
          <ac:chgData name="SHAR Lwin Khin" userId="33cb3c8a-ae33-4f55-be34-306cbe5b6d67" providerId="ADAL" clId="{EC909A2D-78C2-525E-811C-45F995EBE952}" dt="2026-10-21T10:07:15.251" v="106"/>
          <ac:spMkLst>
            <pc:docMk/>
            <pc:sldMk cId="357712669" sldId="387"/>
            <ac:spMk id="106" creationId="{54B65471-EA60-23CA-9C66-94C6A1360CBD}"/>
          </ac:spMkLst>
        </pc:spChg>
      </pc:sldChg>
      <pc:sldChg chg="addSp delSp modSp add mod">
        <pc:chgData name="SHAR Lwin Khin" userId="33cb3c8a-ae33-4f55-be34-306cbe5b6d67" providerId="ADAL" clId="{EC909A2D-78C2-525E-811C-45F995EBE952}" dt="2026-10-22T05:07:20.399" v="1057" actId="478"/>
        <pc:sldMkLst>
          <pc:docMk/>
          <pc:sldMk cId="3299406015" sldId="388"/>
        </pc:sldMkLst>
        <pc:spChg chg="del mod">
          <ac:chgData name="SHAR Lwin Khin" userId="33cb3c8a-ae33-4f55-be34-306cbe5b6d67" providerId="ADAL" clId="{EC909A2D-78C2-525E-811C-45F995EBE952}" dt="2026-10-22T05:07:20.399" v="1057" actId="478"/>
          <ac:spMkLst>
            <pc:docMk/>
            <pc:sldMk cId="3299406015" sldId="388"/>
            <ac:spMk id="9" creationId="{870BD90B-EA3E-8876-7BB1-1F845D27148F}"/>
          </ac:spMkLst>
        </pc:spChg>
        <pc:spChg chg="mod">
          <ac:chgData name="SHAR Lwin Khin" userId="33cb3c8a-ae33-4f55-be34-306cbe5b6d67" providerId="ADAL" clId="{EC909A2D-78C2-525E-811C-45F995EBE952}" dt="2026-10-22T05:04:53.058" v="707" actId="20577"/>
          <ac:spMkLst>
            <pc:docMk/>
            <pc:sldMk cId="3299406015" sldId="388"/>
            <ac:spMk id="126" creationId="{04A81192-140A-C79E-EBCC-89C4BAC57193}"/>
          </ac:spMkLst>
        </pc:spChg>
        <pc:spChg chg="mod">
          <ac:chgData name="SHAR Lwin Khin" userId="33cb3c8a-ae33-4f55-be34-306cbe5b6d67" providerId="ADAL" clId="{EC909A2D-78C2-525E-811C-45F995EBE952}" dt="2026-10-22T05:07:16.845" v="1056" actId="20577"/>
          <ac:spMkLst>
            <pc:docMk/>
            <pc:sldMk cId="3299406015" sldId="388"/>
            <ac:spMk id="127" creationId="{146B5A89-95E6-9DE5-1D63-6D710E762A5B}"/>
          </ac:spMkLst>
        </pc:spChg>
        <pc:picChg chg="add mod">
          <ac:chgData name="SHAR Lwin Khin" userId="33cb3c8a-ae33-4f55-be34-306cbe5b6d67" providerId="ADAL" clId="{EC909A2D-78C2-525E-811C-45F995EBE952}" dt="2026-10-22T05:07:00.505" v="1004" actId="1076"/>
          <ac:picMkLst>
            <pc:docMk/>
            <pc:sldMk cId="3299406015" sldId="388"/>
            <ac:picMk id="3" creationId="{3D32D895-0CA1-4409-6959-D618062FE99E}"/>
          </ac:picMkLst>
        </pc:picChg>
        <pc:picChg chg="del">
          <ac:chgData name="SHAR Lwin Khin" userId="33cb3c8a-ae33-4f55-be34-306cbe5b6d67" providerId="ADAL" clId="{EC909A2D-78C2-525E-811C-45F995EBE952}" dt="2026-10-22T05:06:10.288" v="893" actId="478"/>
          <ac:picMkLst>
            <pc:docMk/>
            <pc:sldMk cId="3299406015" sldId="388"/>
            <ac:picMk id="6" creationId="{70502921-A311-B10C-7F33-634105D06E77}"/>
          </ac:picMkLst>
        </pc:picChg>
        <pc:picChg chg="mod">
          <ac:chgData name="SHAR Lwin Khin" userId="33cb3c8a-ae33-4f55-be34-306cbe5b6d67" providerId="ADAL" clId="{EC909A2D-78C2-525E-811C-45F995EBE952}" dt="2026-10-22T05:06:12.869" v="894" actId="1076"/>
          <ac:picMkLst>
            <pc:docMk/>
            <pc:sldMk cId="3299406015" sldId="388"/>
            <ac:picMk id="8" creationId="{08B06C45-09EE-1363-FFDE-975BD66D2D98}"/>
          </ac:picMkLst>
        </pc:picChg>
      </pc:sldChg>
      <pc:sldChg chg="addSp delSp modSp add mod">
        <pc:chgData name="SHAR Lwin Khin" userId="33cb3c8a-ae33-4f55-be34-306cbe5b6d67" providerId="ADAL" clId="{EC909A2D-78C2-525E-811C-45F995EBE952}" dt="2026-10-22T14:12:54.323" v="1650" actId="1035"/>
        <pc:sldMkLst>
          <pc:docMk/>
          <pc:sldMk cId="3939357514" sldId="389"/>
        </pc:sldMkLst>
        <pc:spChg chg="del mod">
          <ac:chgData name="SHAR Lwin Khin" userId="33cb3c8a-ae33-4f55-be34-306cbe5b6d67" providerId="ADAL" clId="{EC909A2D-78C2-525E-811C-45F995EBE952}" dt="2026-10-22T14:05:45.033" v="1495" actId="478"/>
          <ac:spMkLst>
            <pc:docMk/>
            <pc:sldMk cId="3939357514" sldId="389"/>
            <ac:spMk id="3" creationId="{3A41EF00-7E05-7045-153D-413FB970B34E}"/>
          </ac:spMkLst>
        </pc:spChg>
        <pc:spChg chg="mod">
          <ac:chgData name="SHAR Lwin Khin" userId="33cb3c8a-ae33-4f55-be34-306cbe5b6d67" providerId="ADAL" clId="{EC909A2D-78C2-525E-811C-45F995EBE952}" dt="2026-10-22T14:07:01.622" v="1645" actId="20577"/>
          <ac:spMkLst>
            <pc:docMk/>
            <pc:sldMk cId="3939357514" sldId="389"/>
            <ac:spMk id="211" creationId="{6D63B26A-F339-2451-C676-62DA7C6015B9}"/>
          </ac:spMkLst>
        </pc:spChg>
        <pc:picChg chg="add mod">
          <ac:chgData name="SHAR Lwin Khin" userId="33cb3c8a-ae33-4f55-be34-306cbe5b6d67" providerId="ADAL" clId="{EC909A2D-78C2-525E-811C-45F995EBE952}" dt="2026-10-22T14:12:54.323" v="1650" actId="1035"/>
          <ac:picMkLst>
            <pc:docMk/>
            <pc:sldMk cId="3939357514" sldId="389"/>
            <ac:picMk id="5" creationId="{BD55A245-CB9A-F55A-77DE-9C702C299B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6be9dc936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72" name="Google Shape;72;g86be9dc936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35FDC4B6-531A-C0D0-73DB-534A7AC4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C80EC85D-8EA5-6658-4D8C-250743841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6C6D140F-989C-8685-67D1-88E37CF58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0369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2768100-1597-86AC-0923-5A095973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1DE86799-2C51-68F5-C563-ACEF0444F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B8A6456E-ECA3-D18F-D482-E15E82174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645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4145AE01-4141-02DB-DFAE-5EC0FF3D4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9CE4027B-8BBA-0679-EA68-B3D4BBB86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A34612F8-716F-694B-21D7-A879D7D390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0562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70C4BE7-557D-52A6-999C-6D2B65E7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E0574774-8366-EA36-3756-7953B1D898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1465FBA8-791D-2FF8-2820-7F713F928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9935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4BE6FA85-701B-38F1-C859-299A22674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2E917180-A0AD-A25D-6FB1-98EE59452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3CE32B04-0316-02F4-DF0D-2DC1B9DE95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755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4140954-11A9-B570-FD46-050A5D8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E5981BE0-DC54-873B-817C-429247913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DAC76242-F28F-08C0-EF7C-C3132BFC9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0245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AFEC411-ED7F-7ED3-D709-66ED9C969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F7A23D3C-497C-2C6C-99C5-F927658F2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C187BB99-287D-EA33-54DE-63782B8018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8908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A30C65E-3AAF-240A-CCC5-03466B7C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2B1B39D8-942E-5091-FE4D-50783EA8A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5ABD9574-4EE6-471E-95CD-6ACCD7F51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209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1093E605-1D2A-2603-F914-0E9DF8D8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BFC61C2D-4F5C-4D4F-99D7-A605A0EC7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DE3BF612-0866-50E3-FE3C-10355BF59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8745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A0A1BA8-D8E3-745C-3B5E-A7B48DAB5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B523BB6E-2796-C1C9-0F5A-B22FB1191F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E41121BA-FAA7-3847-A242-E8F62375A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6324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4E99E85-F06E-16D7-9786-40C192443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16773A0F-6C30-2CEE-E7DB-E3CB1D0A63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3A5EA4CB-4C68-81FA-6C5B-526ED5C2B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438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13BAF087-32F4-B612-1FFB-E909B50F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7FBEF50E-98C5-FFB5-4C6C-B4545BEEE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D443D275-018F-F429-E2E4-5523D6ABDE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219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7293C32-48B7-B537-5AC9-A376145E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4080C3F1-F1FB-56DB-442C-30DEECF8B5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501BE979-936C-76D7-71ED-63CFEEC93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373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67D9944A-8A1D-5322-5699-0E1595ED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8877E099-8EF9-D6FB-3C1D-498413E382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0C163B9D-F2A3-D741-1E58-BE33688DCF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5212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CB61ACC2-3244-04A0-755F-DAAEDEE51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8A64BE87-757E-E47A-7FBA-E6BC1C254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D71B94E3-0BD4-1C5F-14F9-56DD993FC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3332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8002115-E435-23B2-8D9B-A55D43090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657BE6A2-B8E7-75AA-EA2C-AC3456E1AA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9B34A2A8-F887-1E9F-640C-43904CB8D9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9298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FA63C140-C273-A90C-F250-75FAC471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91E5C29D-7F55-7DC7-4BDD-056BF94EB9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8E3CD1E2-5AE9-F7F1-E686-4F6D292419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3838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3239AA8-427A-109F-5230-854B0F2AF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4A03CD4C-50F0-AFD3-2D16-082C980411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E5B7747D-28B2-F160-0C48-E07C036F3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072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75D8F948-3C55-B779-2659-0EF99855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36A7FD68-C693-E6D3-3FFD-D3460C4F40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4B2D9919-8EA4-7246-45D9-190BB75559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8612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9B1EF3E-F36B-0B39-E3F0-FD6B0F788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9A0C23A4-D2AD-64BB-A0B4-3B14DC8158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EB279AB6-36CF-0210-9631-5C1A272976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62352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672993F9-0097-9E32-DCD0-DFE04403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AE015A05-92EC-3661-F4E6-01E8C19873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3F555250-6C86-F28B-22D8-77D792057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2146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95CF04E1-CCF0-C1F7-EE8D-02F3A857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BD96E2EE-D3B2-7223-69BF-77912E5EF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28E38BED-4192-E7AD-6B35-405F21408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29030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F9C0E05-C226-827B-2E1D-22879612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>
            <a:extLst>
              <a:ext uri="{FF2B5EF4-FFF2-40B4-BE49-F238E27FC236}">
                <a16:creationId xmlns:a16="http://schemas.microsoft.com/office/drawing/2014/main" id="{BE97221A-C843-951E-840A-D4007A5F9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>
            <a:extLst>
              <a:ext uri="{FF2B5EF4-FFF2-40B4-BE49-F238E27FC236}">
                <a16:creationId xmlns:a16="http://schemas.microsoft.com/office/drawing/2014/main" id="{4DB62015-B1E2-F6CA-73D5-E818E8D6C5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7790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54151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22FD2D4-F35D-5E4B-E5AA-167C53372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>
            <a:extLst>
              <a:ext uri="{FF2B5EF4-FFF2-40B4-BE49-F238E27FC236}">
                <a16:creationId xmlns:a16="http://schemas.microsoft.com/office/drawing/2014/main" id="{166A2A9E-5BAB-8F0A-4B9B-417B7EA2C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>
            <a:extLst>
              <a:ext uri="{FF2B5EF4-FFF2-40B4-BE49-F238E27FC236}">
                <a16:creationId xmlns:a16="http://schemas.microsoft.com/office/drawing/2014/main" id="{C726815E-F94F-30AF-8E1E-659F3452E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8456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A1B56F7-13E9-FAFE-AAA0-33F504EAC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>
            <a:extLst>
              <a:ext uri="{FF2B5EF4-FFF2-40B4-BE49-F238E27FC236}">
                <a16:creationId xmlns:a16="http://schemas.microsoft.com/office/drawing/2014/main" id="{B41466DF-0928-F1BE-9725-D42AF6BC6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>
            <a:extLst>
              <a:ext uri="{FF2B5EF4-FFF2-40B4-BE49-F238E27FC236}">
                <a16:creationId xmlns:a16="http://schemas.microsoft.com/office/drawing/2014/main" id="{B08F5B55-01D0-8781-2CA9-7DDDCC7BD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12357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4BC8088-BAD6-8311-4570-792F03F1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>
            <a:extLst>
              <a:ext uri="{FF2B5EF4-FFF2-40B4-BE49-F238E27FC236}">
                <a16:creationId xmlns:a16="http://schemas.microsoft.com/office/drawing/2014/main" id="{6C7F441C-4633-AF26-4465-F7E69DD0F9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>
            <a:extLst>
              <a:ext uri="{FF2B5EF4-FFF2-40B4-BE49-F238E27FC236}">
                <a16:creationId xmlns:a16="http://schemas.microsoft.com/office/drawing/2014/main" id="{5416DED2-1AE5-FD9E-62DE-7CEE3DA7E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8532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578ED59-38F2-ACB6-F11C-76E68D22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>
            <a:extLst>
              <a:ext uri="{FF2B5EF4-FFF2-40B4-BE49-F238E27FC236}">
                <a16:creationId xmlns:a16="http://schemas.microsoft.com/office/drawing/2014/main" id="{06B72F42-97C8-405B-31BD-FAAABCEFA2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>
            <a:extLst>
              <a:ext uri="{FF2B5EF4-FFF2-40B4-BE49-F238E27FC236}">
                <a16:creationId xmlns:a16="http://schemas.microsoft.com/office/drawing/2014/main" id="{40AF4D91-3834-7424-638F-89DC32B986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8944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B894E580-672C-840E-F729-5BE7230CF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>
            <a:extLst>
              <a:ext uri="{FF2B5EF4-FFF2-40B4-BE49-F238E27FC236}">
                <a16:creationId xmlns:a16="http://schemas.microsoft.com/office/drawing/2014/main" id="{551A2AED-5AA0-C5B6-0B6D-318C305F6A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>
            <a:extLst>
              <a:ext uri="{FF2B5EF4-FFF2-40B4-BE49-F238E27FC236}">
                <a16:creationId xmlns:a16="http://schemas.microsoft.com/office/drawing/2014/main" id="{231446A8-6BDA-8EFC-3A00-DAC5B4624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38368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ACA9345B-F1AE-0BEC-6CF5-1874A80E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>
            <a:extLst>
              <a:ext uri="{FF2B5EF4-FFF2-40B4-BE49-F238E27FC236}">
                <a16:creationId xmlns:a16="http://schemas.microsoft.com/office/drawing/2014/main" id="{995802E5-215F-A5D5-D5AA-7D2640F79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>
            <a:extLst>
              <a:ext uri="{FF2B5EF4-FFF2-40B4-BE49-F238E27FC236}">
                <a16:creationId xmlns:a16="http://schemas.microsoft.com/office/drawing/2014/main" id="{EFF0A137-B565-0CA3-462E-48198388A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3283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8206627-C965-F53E-3D56-4F4450A3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>
            <a:extLst>
              <a:ext uri="{FF2B5EF4-FFF2-40B4-BE49-F238E27FC236}">
                <a16:creationId xmlns:a16="http://schemas.microsoft.com/office/drawing/2014/main" id="{7D8EF10D-C9B8-321C-2312-4BD6994BC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>
            <a:extLst>
              <a:ext uri="{FF2B5EF4-FFF2-40B4-BE49-F238E27FC236}">
                <a16:creationId xmlns:a16="http://schemas.microsoft.com/office/drawing/2014/main" id="{D423811A-6693-1124-3F1D-C34BF825CB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87009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E31D7518-1D34-60B6-7C67-D80DCD79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>
            <a:extLst>
              <a:ext uri="{FF2B5EF4-FFF2-40B4-BE49-F238E27FC236}">
                <a16:creationId xmlns:a16="http://schemas.microsoft.com/office/drawing/2014/main" id="{56AC671E-3795-34AB-D602-3D77C1B74B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>
            <a:extLst>
              <a:ext uri="{FF2B5EF4-FFF2-40B4-BE49-F238E27FC236}">
                <a16:creationId xmlns:a16="http://schemas.microsoft.com/office/drawing/2014/main" id="{6048D596-2FBF-27C6-6C92-BC983AFDD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4609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4858501-1038-A69D-1366-0925ABCAB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>
            <a:extLst>
              <a:ext uri="{FF2B5EF4-FFF2-40B4-BE49-F238E27FC236}">
                <a16:creationId xmlns:a16="http://schemas.microsoft.com/office/drawing/2014/main" id="{A04589E6-33CE-8E96-4A60-C11306CC19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>
            <a:extLst>
              <a:ext uri="{FF2B5EF4-FFF2-40B4-BE49-F238E27FC236}">
                <a16:creationId xmlns:a16="http://schemas.microsoft.com/office/drawing/2014/main" id="{3307DCCB-7782-A566-F2D9-3C389F284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07506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C585A38E-D83E-78D6-817C-C7B404A8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7db27a630_0_60:notes">
            <a:extLst>
              <a:ext uri="{FF2B5EF4-FFF2-40B4-BE49-F238E27FC236}">
                <a16:creationId xmlns:a16="http://schemas.microsoft.com/office/drawing/2014/main" id="{FB888DD2-FF1B-7327-425B-EE159CBA9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124" name="Google Shape;124;g97db27a630_0_60:notes">
            <a:extLst>
              <a:ext uri="{FF2B5EF4-FFF2-40B4-BE49-F238E27FC236}">
                <a16:creationId xmlns:a16="http://schemas.microsoft.com/office/drawing/2014/main" id="{7D97DFF0-A653-7B2D-DFB5-5EB271A52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8324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D1B9D242-53DD-DBB8-F3E3-5B94D9D03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415936F2-049E-5BB7-868C-6EDBD2EE92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C17249D2-43A0-AA1E-D829-6EE9DC627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25978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2AB2D102-6742-ACBC-656E-CCF5523A3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DCAE1DDB-F110-C544-D815-CE5E3334F7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F71B142F-2889-67D9-CF35-FFD906D1C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3091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8A52122F-6E27-5C6E-D290-DBE48D58A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19D81B80-6914-3188-844C-E94A2007D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14E6E603-D9C6-8EFC-AE06-694F074A9A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8398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BA1D181F-D39F-4D34-0913-6B515B05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67685BCB-B89C-6C6B-EBD6-4DCABC4FCE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5AF82B61-D7E8-EB67-4A14-B6123FA6D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0092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87D3ED22-CB13-1100-ADF9-1B4842D6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4D44B60D-3FC3-6C0B-CD0A-FE1E80CA1A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43AACCDD-B69D-2A4A-52D1-BF8E14BBA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5750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017A8C5A-F079-5C70-42F0-4C07DCD10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D1FDE015-A77D-E7B3-BE2E-C71D4753C9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62EE1440-4C32-08D5-46E7-65D3FC805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15145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BCC8BD48-B4DC-4228-B31E-03DCBC4C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F35EFD45-2169-432A-EACF-6CC201820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114028B4-4D5A-7352-E2DC-55F74D965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6906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BC90839A-D51E-B46A-B205-17C256CF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15EA7E35-6A95-D45D-F289-5B0FD8758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E2754F68-8057-DC16-B9A9-0B1B2E43D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49956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4F48EC3A-C3C5-DB08-AF71-16EBD651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03F681EC-49F0-0E10-3B8B-C021F09755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FD77D8DB-70B4-F242-B58D-819430A83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5795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93B6675D-1033-9B3C-5ABA-20767EEF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8E68F99B-6B5C-368D-6FAF-5B86E7EF91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443B0B47-DED7-170F-7A9D-8E151383E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5451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5BB51BFE-EF51-0AF9-BC99-0779579CC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3196d93c6_0_80:notes">
            <a:extLst>
              <a:ext uri="{FF2B5EF4-FFF2-40B4-BE49-F238E27FC236}">
                <a16:creationId xmlns:a16="http://schemas.microsoft.com/office/drawing/2014/main" id="{51241658-B1BE-9C42-87AC-15F0ED10AA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08" name="Google Shape;208;g53196d93c6_0_80:notes">
            <a:extLst>
              <a:ext uri="{FF2B5EF4-FFF2-40B4-BE49-F238E27FC236}">
                <a16:creationId xmlns:a16="http://schemas.microsoft.com/office/drawing/2014/main" id="{31809C74-6C5D-3179-9FC9-8CCD216ED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3270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bdf37d5a65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SG"/>
          </a:p>
        </p:txBody>
      </p:sp>
      <p:sp>
        <p:nvSpPr>
          <p:cNvPr id="245" name="Google Shape;245;gbdf37d5a65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71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65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92F04-A9E7-67E8-4265-9735777B5D7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956050" y="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vuejs.org/guide/essentials/computed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vuejs.org/api/options-state.html#methods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products/1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router.vuejs.org/guide/advanced/navigation-guards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Ak335PdIsk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Ak335PdIsk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Ak335PdIsk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Web Application Development II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217885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Week 11: </a:t>
            </a:r>
            <a:r>
              <a:rPr lang="en" dirty="0" err="1"/>
              <a:t>Vue.js</a:t>
            </a:r>
            <a:endParaRPr lang="en" dirty="0"/>
          </a:p>
          <a:p>
            <a:r>
              <a:rPr lang="en-GB" sz="1600" dirty="0">
                <a:latin typeface="Calibri"/>
                <a:ea typeface="Calibri"/>
                <a:cs typeface="Calibri"/>
              </a:rPr>
              <a:t>Routing &amp; </a:t>
            </a:r>
          </a:p>
          <a:p>
            <a:r>
              <a:rPr lang="en-GB" sz="1600" dirty="0">
                <a:latin typeface="Calibri"/>
                <a:ea typeface="Calibri"/>
                <a:cs typeface="Calibri"/>
              </a:rPr>
              <a:t>State Management 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dirty="0" err="1"/>
              <a:t>Composables</a:t>
            </a:r>
          </a:p>
          <a:p>
            <a:pPr marL="0" indent="0">
              <a:lnSpc>
                <a:spcPct val="114999"/>
              </a:lnSpc>
              <a:buNone/>
            </a:pPr>
            <a:endParaRPr lang="en" dirty="0"/>
          </a:p>
          <a:p>
            <a:pPr marL="0" indent="0">
              <a:lnSpc>
                <a:spcPct val="114999"/>
              </a:lnSpc>
              <a:buNone/>
            </a:pPr>
            <a:r>
              <a:rPr lang="en"/>
              <a:t>What is State Management?</a:t>
            </a:r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r>
              <a:rPr lang="en" dirty="0"/>
              <a:t>What </a:t>
            </a:r>
            <a:r>
              <a:rPr lang="en" dirty="0" err="1"/>
              <a:t>Pinia</a:t>
            </a:r>
            <a:r>
              <a:rPr lang="en" dirty="0"/>
              <a:t> Provides</a:t>
            </a:r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r>
              <a:rPr lang="en" dirty="0"/>
              <a:t>Running Example </a:t>
            </a:r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r>
              <a:rPr lang="en" dirty="0"/>
              <a:t>Setting Up</a:t>
            </a:r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r>
              <a:rPr lang="en" dirty="0"/>
              <a:t>Defining / Using a Store</a:t>
            </a:r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r>
              <a:rPr lang="en" dirty="0"/>
              <a:t>Routing</a:t>
            </a:r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endParaRPr lang="en" dirty="0"/>
          </a:p>
          <a:p>
            <a:pPr marL="0" indent="0">
              <a:lnSpc>
                <a:spcPct val="114999"/>
              </a:lnSpc>
              <a:buNone/>
            </a:pPr>
            <a:endParaRPr lang="en" dirty="0"/>
          </a:p>
          <a:p>
            <a:pPr marL="0" indent="0">
              <a:lnSpc>
                <a:spcPct val="114999"/>
              </a:lnSpc>
              <a:spcBef>
                <a:spcPts val="1600"/>
              </a:spcBef>
              <a:buNone/>
            </a:pPr>
            <a:endParaRPr lang="en" dirty="0"/>
          </a:p>
          <a:p>
            <a:pPr marL="0" indent="0">
              <a:lnSpc>
                <a:spcPct val="114999"/>
              </a:lnSpc>
              <a:spcBef>
                <a:spcPts val="1600"/>
              </a:spcBef>
              <a:buNone/>
            </a:pPr>
            <a:endParaRPr lang="en" dirty="0"/>
          </a:p>
          <a:p>
            <a:pPr marL="0" lvl="0" indent="0" algn="l">
              <a:spcBef>
                <a:spcPts val="1600"/>
              </a:spcBef>
              <a:spcAft>
                <a:spcPts val="1600"/>
              </a:spcAft>
              <a:buNone/>
            </a:pPr>
            <a:endParaRPr lang="en-US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34A5EEB3-1421-3F27-09D2-D5341B5B98B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31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Learning Outcomes</a:t>
            </a:r>
            <a:endParaRPr lang="en-SG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b="1" dirty="0"/>
          </a:p>
          <a:p>
            <a:pPr marL="0" indent="0">
              <a:buNone/>
            </a:pPr>
            <a:r>
              <a:rPr lang="en-SG" dirty="0"/>
              <a:t>By the end of this lesson, you can:</a:t>
            </a:r>
          </a:p>
          <a:p>
            <a:pPr marL="0" indent="0">
              <a:buNone/>
            </a:pPr>
            <a:endParaRPr lang="en-SG" dirty="0"/>
          </a:p>
          <a:p>
            <a:pPr marL="285750" indent="-285750"/>
            <a:r>
              <a:rPr lang="en-SG" dirty="0"/>
              <a:t>Explain why SPAs need state management</a:t>
            </a:r>
          </a:p>
          <a:p>
            <a:pPr marL="285750" indent="-285750"/>
            <a:r>
              <a:rPr lang="en-SG" dirty="0"/>
              <a:t>Create </a:t>
            </a:r>
            <a:r>
              <a:rPr lang="en-SG" dirty="0" err="1"/>
              <a:t>Pinia</a:t>
            </a:r>
            <a:r>
              <a:rPr lang="en-SG" dirty="0"/>
              <a:t> stores (state, getters, actions)</a:t>
            </a:r>
          </a:p>
          <a:p>
            <a:pPr marL="285750" indent="-285750"/>
            <a:r>
              <a:rPr lang="en-SG" dirty="0"/>
              <a:t>Share state across components</a:t>
            </a:r>
          </a:p>
          <a:p>
            <a:pPr marL="285750" indent="-285750"/>
            <a:r>
              <a:rPr lang="en-SG" dirty="0"/>
              <a:t>Implement async actions with store’s states and actions</a:t>
            </a:r>
          </a:p>
          <a:p>
            <a:pPr marL="285750" indent="-285750"/>
            <a:r>
              <a:rPr lang="en-SG" dirty="0"/>
              <a:t>Implement route guards based on a store</a:t>
            </a:r>
          </a:p>
          <a:p>
            <a:pPr marL="285750" indent="-285750"/>
            <a:r>
              <a:rPr lang="en-SG" dirty="0"/>
              <a:t>Handle loading/error states properly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5B670CBF-1DCF-DD32-8DDC-B88BEC850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70A9F041-E1A0-A308-843B-AB0FEFE6A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>
                <a:solidFill>
                  <a:srgbClr val="FF0000"/>
                </a:solidFill>
              </a:rPr>
              <a:t>(Optional) </a:t>
            </a:r>
            <a:r>
              <a:rPr lang="en" dirty="0"/>
              <a:t>What is Composable?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F4C14307-1D38-A6BE-AC41-88B6C87DB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/>
              <a:t>A composable is a function that </a:t>
            </a:r>
            <a:r>
              <a:rPr lang="en-SG" dirty="0"/>
              <a:t>leverages Vue's Composition API to encapsulate and reuse stateful logic.</a:t>
            </a:r>
            <a:endParaRPr lang="en-US" dirty="0"/>
          </a:p>
          <a:p>
            <a:pPr marL="0" indent="0">
              <a:lnSpc>
                <a:spcPct val="114999"/>
              </a:lnSpc>
              <a:buNone/>
            </a:pPr>
            <a:endParaRPr lang="en-SG" dirty="0"/>
          </a:p>
          <a:p>
            <a:pPr marL="0" indent="0">
              <a:lnSpc>
                <a:spcPct val="114999"/>
              </a:lnSpc>
              <a:buNone/>
            </a:pPr>
            <a:r>
              <a:rPr lang="en-SG"/>
              <a:t>Think of it as a self-</a:t>
            </a:r>
            <a:r>
              <a:rPr lang="en-SG" dirty="0"/>
              <a:t>contained module of reactive state (ref, reactive), computed properties, and methods.</a:t>
            </a:r>
          </a:p>
          <a:p>
            <a:pPr marL="0" indent="0">
              <a:lnSpc>
                <a:spcPct val="114999"/>
              </a:lnSpc>
              <a:buNone/>
            </a:pPr>
            <a:endParaRPr lang="en-SG" dirty="0"/>
          </a:p>
          <a:p>
            <a:pPr marL="0" indent="0">
              <a:lnSpc>
                <a:spcPct val="114999"/>
              </a:lnSpc>
              <a:buNone/>
            </a:pPr>
            <a:r>
              <a:rPr lang="en-SG" dirty="0"/>
              <a:t>Key Characteristic: Unlike standard utility functions that only perform stateless calculations (e.g., formatting a date), </a:t>
            </a:r>
            <a:r>
              <a:rPr lang="en-SG" dirty="0" err="1"/>
              <a:t>composables</a:t>
            </a:r>
            <a:r>
              <a:rPr lang="en-SG" dirty="0"/>
              <a:t> manage reactive data over time.</a:t>
            </a:r>
          </a:p>
          <a:p>
            <a:pPr marL="0" indent="0">
              <a:lnSpc>
                <a:spcPct val="114999"/>
              </a:lnSpc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0D45A9F0-4A86-8647-F9D9-636553B64F8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978198"/>
            <a:ext cx="4007622" cy="40191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Example: </a:t>
            </a:r>
            <a:r>
              <a:rPr lang="en-SG" i="1" dirty="0" err="1"/>
              <a:t>composables</a:t>
            </a:r>
            <a:r>
              <a:rPr lang="en-SG" i="1" dirty="0"/>
              <a:t>/useCounter.js</a:t>
            </a:r>
            <a:endParaRPr lang="en-US" i="1" dirty="0"/>
          </a:p>
          <a:p>
            <a:pPr marL="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SG" sz="1000" dirty="0"/>
              <a:t>import { ref, computed } from '</a:t>
            </a:r>
            <a:r>
              <a:rPr lang="en-SG" sz="1000" dirty="0" err="1"/>
              <a:t>vue</a:t>
            </a:r>
            <a:r>
              <a:rPr lang="en-SG" sz="1000" dirty="0"/>
              <a:t>'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SG" sz="1000" dirty="0"/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export function </a:t>
            </a:r>
            <a:r>
              <a:rPr lang="en-SG" sz="1000" dirty="0" err="1"/>
              <a:t>useCounter</a:t>
            </a:r>
            <a:r>
              <a:rPr lang="en-SG" sz="1000" dirty="0"/>
              <a:t>(</a:t>
            </a:r>
            <a:r>
              <a:rPr lang="en-SG" sz="1000" dirty="0" err="1"/>
              <a:t>initialValue</a:t>
            </a:r>
            <a:r>
              <a:rPr lang="en-SG" sz="1000" dirty="0"/>
              <a:t> = 0) {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// 1. Reactive State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</a:t>
            </a:r>
            <a:r>
              <a:rPr lang="en-SG" sz="1000" dirty="0" err="1"/>
              <a:t>const</a:t>
            </a:r>
            <a:r>
              <a:rPr lang="en-SG" sz="1000" dirty="0"/>
              <a:t> count = ref(</a:t>
            </a:r>
            <a:r>
              <a:rPr lang="en-SG" sz="1000" dirty="0" err="1"/>
              <a:t>initialValue</a:t>
            </a:r>
            <a:r>
              <a:rPr lang="en-SG" sz="1000" dirty="0"/>
              <a:t>)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SG" sz="1000" dirty="0"/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// 2. Computed Properties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</a:t>
            </a:r>
            <a:r>
              <a:rPr lang="en-SG" sz="1000" dirty="0" err="1"/>
              <a:t>const</a:t>
            </a:r>
            <a:r>
              <a:rPr lang="en-SG" sz="1000" dirty="0"/>
              <a:t> </a:t>
            </a:r>
            <a:r>
              <a:rPr lang="en-SG" sz="1000" dirty="0" err="1"/>
              <a:t>doubleCount</a:t>
            </a:r>
            <a:r>
              <a:rPr lang="en-SG" sz="1000" dirty="0"/>
              <a:t> = computed(() =&gt; </a:t>
            </a:r>
            <a:r>
              <a:rPr lang="en-SG" sz="1000" dirty="0" err="1"/>
              <a:t>count.value</a:t>
            </a:r>
            <a:r>
              <a:rPr lang="en-SG" sz="1000" dirty="0"/>
              <a:t> * 2)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SG" sz="1000" dirty="0"/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// 3. Methods / Actions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function increment() {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   </a:t>
            </a:r>
            <a:r>
              <a:rPr lang="en-SG" sz="1000" dirty="0" err="1"/>
              <a:t>count.value</a:t>
            </a:r>
            <a:r>
              <a:rPr lang="en-SG" sz="1000" dirty="0"/>
              <a:t>++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}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function decrement() {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   </a:t>
            </a:r>
            <a:r>
              <a:rPr lang="en-SG" sz="1000" dirty="0" err="1"/>
              <a:t>count.value</a:t>
            </a:r>
            <a:r>
              <a:rPr lang="en-SG" sz="1000" dirty="0"/>
              <a:t>--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}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function reset() {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   </a:t>
            </a:r>
            <a:r>
              <a:rPr lang="en-SG" sz="1000" dirty="0" err="1"/>
              <a:t>count.value</a:t>
            </a:r>
            <a:r>
              <a:rPr lang="en-SG" sz="1000" dirty="0"/>
              <a:t> = </a:t>
            </a:r>
            <a:r>
              <a:rPr lang="en-SG" sz="1000" dirty="0" err="1"/>
              <a:t>initialValue</a:t>
            </a:r>
            <a:endParaRPr lang="en-SG" sz="1000" dirty="0"/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}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SG" sz="1000" dirty="0"/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// 4. Return reactive state and methods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  return { count, </a:t>
            </a:r>
            <a:r>
              <a:rPr lang="en-SG" sz="1000" dirty="0" err="1"/>
              <a:t>doubleCount</a:t>
            </a:r>
            <a:r>
              <a:rPr lang="en-SG" sz="1000" dirty="0"/>
              <a:t>, increment, decrement, reset }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624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7C2A5F6-DC0C-39DA-05B5-C7B8BCB0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54B65471-EA60-23CA-9C66-94C6A1360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>
                <a:solidFill>
                  <a:srgbClr val="FF0000"/>
                </a:solidFill>
              </a:rPr>
              <a:t>(Optional) </a:t>
            </a:r>
            <a:r>
              <a:rPr lang="en" dirty="0"/>
              <a:t>Usage of Composable</a:t>
            </a:r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960993A1-8E34-35C0-CF31-4DEB1A6382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/>
              <a:t>A composable is a function that </a:t>
            </a:r>
            <a:r>
              <a:rPr lang="en-SG" dirty="0"/>
              <a:t>leverages Vue's Composition API to encapsulate and reuse stateful logic.</a:t>
            </a:r>
            <a:endParaRPr lang="en-US" dirty="0"/>
          </a:p>
          <a:p>
            <a:pPr marL="0" indent="0">
              <a:lnSpc>
                <a:spcPct val="114999"/>
              </a:lnSpc>
              <a:buNone/>
            </a:pPr>
            <a:endParaRPr lang="en-SG" dirty="0"/>
          </a:p>
          <a:p>
            <a:pPr marL="0" indent="0">
              <a:lnSpc>
                <a:spcPct val="114999"/>
              </a:lnSpc>
              <a:buNone/>
            </a:pPr>
            <a:r>
              <a:rPr lang="en-SG"/>
              <a:t>Think of it as a self-</a:t>
            </a:r>
            <a:r>
              <a:rPr lang="en-SG" dirty="0"/>
              <a:t>contained module of reactive state (ref, reactive), computed properties, and methods.</a:t>
            </a:r>
          </a:p>
          <a:p>
            <a:pPr marL="0" indent="0">
              <a:lnSpc>
                <a:spcPct val="114999"/>
              </a:lnSpc>
              <a:buNone/>
            </a:pPr>
            <a:endParaRPr lang="en-SG" dirty="0"/>
          </a:p>
          <a:p>
            <a:pPr marL="0" indent="0">
              <a:lnSpc>
                <a:spcPct val="114999"/>
              </a:lnSpc>
              <a:buNone/>
            </a:pPr>
            <a:r>
              <a:rPr lang="en-SG" dirty="0"/>
              <a:t>Key Characteristic: Unlike standard utility functions that only perform stateless calculations (e.g., formatting a date), </a:t>
            </a:r>
            <a:r>
              <a:rPr lang="en-SG" dirty="0" err="1"/>
              <a:t>composables</a:t>
            </a:r>
            <a:r>
              <a:rPr lang="en-SG" dirty="0"/>
              <a:t> manage reactive data over time.</a:t>
            </a:r>
          </a:p>
          <a:p>
            <a:pPr marL="0" indent="0">
              <a:lnSpc>
                <a:spcPct val="114999"/>
              </a:lnSpc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537E7B87-3D7E-BE7B-A813-ED7BDA4DA5C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978195"/>
            <a:ext cx="4007622" cy="39781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b="1" dirty="0"/>
              <a:t>Example: </a:t>
            </a:r>
            <a:r>
              <a:rPr lang="en" i="1" dirty="0"/>
              <a:t>Components/</a:t>
            </a:r>
            <a:r>
              <a:rPr lang="en" i="1" dirty="0" err="1"/>
              <a:t>CounterWidget.vue</a:t>
            </a:r>
            <a:r>
              <a:rPr lang="en-SG" sz="1000" dirty="0"/>
              <a:t> </a:t>
            </a:r>
            <a:br>
              <a:rPr lang="en-US" dirty="0"/>
            </a:br>
            <a:endParaRPr lang="en-SG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&lt;script setup&gt;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import { </a:t>
            </a:r>
            <a:r>
              <a:rPr lang="en-SG" sz="1000" dirty="0" err="1"/>
              <a:t>useCounter</a:t>
            </a:r>
            <a:r>
              <a:rPr lang="en-SG" sz="1000" dirty="0"/>
              <a:t> } from '../</a:t>
            </a:r>
            <a:r>
              <a:rPr lang="en-SG" sz="1000" dirty="0" err="1"/>
              <a:t>composables</a:t>
            </a:r>
            <a:r>
              <a:rPr lang="en-SG" sz="1000" dirty="0"/>
              <a:t>/</a:t>
            </a:r>
            <a:r>
              <a:rPr lang="en-SG" sz="1000" dirty="0" err="1"/>
              <a:t>useCounter</a:t>
            </a:r>
            <a:r>
              <a:rPr lang="en-SG" sz="1000" dirty="0"/>
              <a:t>'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endParaRPr lang="en-SG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// </a:t>
            </a:r>
            <a:r>
              <a:rPr lang="en-SG" sz="1000" dirty="0" err="1"/>
              <a:t>Destructure</a:t>
            </a:r>
            <a:r>
              <a:rPr lang="en-SG" sz="1000" dirty="0"/>
              <a:t> reactive state and methods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 err="1"/>
              <a:t>const</a:t>
            </a:r>
            <a:r>
              <a:rPr lang="en-SG" sz="1000" dirty="0"/>
              <a:t> { count, </a:t>
            </a:r>
            <a:r>
              <a:rPr lang="en-SG" sz="1000" dirty="0" err="1"/>
              <a:t>doubleCount</a:t>
            </a:r>
            <a:r>
              <a:rPr lang="en-SG" sz="1000" dirty="0"/>
              <a:t>, increment, decrement, reset } = </a:t>
            </a:r>
            <a:r>
              <a:rPr lang="en-SG" sz="1000" dirty="0" err="1"/>
              <a:t>useCounter</a:t>
            </a:r>
            <a:r>
              <a:rPr lang="en-SG" sz="1000" dirty="0"/>
              <a:t>(10)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endParaRPr lang="en-SG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&lt;/script&gt;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endParaRPr lang="en-SG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&lt;template&gt;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endParaRPr lang="en-SG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   &lt;div class="counter-card"&gt;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      &lt;h2&gt;Counter Demo&lt;/h2&gt;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      &lt;p&gt;Current Count: &lt;strong&gt;{{ count }}&lt;/strong&gt;&lt;/p&gt;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      &lt;p&gt;Double Count: &lt;strong&gt;{{ </a:t>
            </a:r>
            <a:r>
              <a:rPr lang="en-SG" sz="1000" dirty="0" err="1"/>
              <a:t>doubleCount</a:t>
            </a:r>
            <a:r>
              <a:rPr lang="en-SG" sz="1000" dirty="0"/>
              <a:t> }}&lt;/strong&gt;&lt;/p&gt;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endParaRPr lang="en-SG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      &lt;div class="actions"&gt;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         &lt;button @click="increment"&gt;+1&lt;/button&gt;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         &lt;button @click="decrement"&gt;-1&lt;/button&gt;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         &lt;button @click="reset"&gt;Reset&lt;/button&gt;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      &lt;/div&gt; 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   &lt;/div&gt;</a:t>
            </a: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sz="1000" dirty="0"/>
              <a:t>&lt;/template&gt; </a:t>
            </a:r>
            <a:endParaRPr lang="en-SG" dirty="0"/>
          </a:p>
          <a:p>
            <a:pPr>
              <a:lnSpc>
                <a:spcPct val="114999"/>
              </a:lnSpc>
              <a:buNone/>
            </a:pPr>
            <a:endParaRPr lang="en-SG" sz="1000" dirty="0"/>
          </a:p>
        </p:txBody>
      </p:sp>
    </p:spTree>
    <p:extLst>
      <p:ext uri="{BB962C8B-B14F-4D97-AF65-F5344CB8AC3E}">
        <p14:creationId xmlns:p14="http://schemas.microsoft.com/office/powerpoint/2010/main" val="357712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6F2F9087-328A-7E79-B1B6-89D275F5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A57F9AE4-A7A3-D550-9E66-92AE10A83E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What is State Management?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E52BBF6A-503A-3582-0754-2C74F78F2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dirty="0"/>
              <a:t>Technically, every Vue component instance already "manages" its own reactive state. </a:t>
            </a:r>
          </a:p>
          <a:p>
            <a:pPr marL="0" lv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b="1" dirty="0"/>
              <a:t>State</a:t>
            </a:r>
            <a:r>
              <a:rPr lang="en-SG" dirty="0"/>
              <a:t>: data that affects what the UI displays</a:t>
            </a:r>
          </a:p>
          <a:p>
            <a:pPr marL="0" indent="0">
              <a:buNone/>
            </a:pPr>
            <a:r>
              <a:rPr lang="en-SG" dirty="0"/>
              <a:t>Examples:</a:t>
            </a:r>
          </a:p>
          <a:p>
            <a:r>
              <a:rPr lang="en-SG" dirty="0"/>
              <a:t>logged-in user + token</a:t>
            </a:r>
          </a:p>
          <a:p>
            <a:r>
              <a:rPr lang="en-SG" dirty="0"/>
              <a:t>cart items + quantities</a:t>
            </a:r>
          </a:p>
          <a:p>
            <a:r>
              <a:rPr lang="en-SG" dirty="0"/>
              <a:t>products list from API</a:t>
            </a:r>
          </a:p>
          <a:p>
            <a:r>
              <a:rPr lang="en-SG" dirty="0"/>
              <a:t>loading/error flags</a:t>
            </a:r>
          </a:p>
          <a:p>
            <a:endParaRPr lang="en-SG" dirty="0"/>
          </a:p>
          <a:p>
            <a:pPr marL="0" indent="0">
              <a:buNone/>
            </a:pPr>
            <a:r>
              <a:rPr lang="en-SG" dirty="0"/>
              <a:t>Key idea: State changes → UI updates automatically.</a:t>
            </a:r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9EBE7BAE-ED84-1F3C-E922-4F34E90C75B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31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Example: a simple counter component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&lt;script setup&gt;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import { ref } from '</a:t>
            </a:r>
            <a:r>
              <a:rPr lang="en-SG" dirty="0" err="1"/>
              <a:t>vue</a:t>
            </a:r>
            <a:r>
              <a:rPr lang="en-SG" dirty="0"/>
              <a:t>'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// state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 err="1"/>
              <a:t>const</a:t>
            </a:r>
            <a:r>
              <a:rPr lang="en-SG" dirty="0"/>
              <a:t> count = ref(0)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// actions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function increment()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  </a:t>
            </a:r>
            <a:r>
              <a:rPr lang="en-SG" dirty="0" err="1"/>
              <a:t>count.value</a:t>
            </a:r>
            <a:r>
              <a:rPr lang="en-SG" dirty="0"/>
              <a:t>++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}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&lt;/script&gt;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&lt;!-- view --&gt;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&lt;template&gt;{{ count }}&lt;/template&gt;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2749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55811AA-BDB0-FD4E-086D-AC0ECAC6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84FCFAB6-01A4-F4CC-8229-62A70D469D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The Problem without a Store (Prop Drilling)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EBAFA590-2B63-B857-0AF2-448046E538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In a SPA, many components need the same data.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If you store data only in a parent component and pass state through props across many layers could create </a:t>
            </a:r>
            <a:r>
              <a:rPr lang="en-SG" b="1" dirty="0"/>
              <a:t>prop drilling</a:t>
            </a:r>
            <a:r>
              <a:rPr lang="en-SG" dirty="0"/>
              <a:t> and makes code harder to maintain.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For example, in a shopping cart, if you store cart data in a parent component:</a:t>
            </a:r>
          </a:p>
          <a:p>
            <a:pPr marL="285750" indent="-285750"/>
            <a:r>
              <a:rPr lang="en-SG" dirty="0"/>
              <a:t>Navbar needs cart count</a:t>
            </a:r>
          </a:p>
          <a:p>
            <a:pPr marL="285750" indent="-285750"/>
            <a:r>
              <a:rPr lang="en-SG" dirty="0"/>
              <a:t>Product Card needs “add to Cart”</a:t>
            </a:r>
          </a:p>
          <a:p>
            <a:pPr marL="285750" indent="-285750"/>
            <a:r>
              <a:rPr lang="en-SG" dirty="0"/>
              <a:t>Cart page needs totals and actions</a:t>
            </a:r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93F627BD-DAE2-9FB7-D26B-BD001915F88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31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Without a store, you must pass props/events through many layers:</a:t>
            </a:r>
          </a:p>
          <a:p>
            <a:r>
              <a:rPr lang="en-SG" dirty="0"/>
              <a:t>messy</a:t>
            </a:r>
          </a:p>
          <a:p>
            <a:r>
              <a:rPr lang="en-SG" dirty="0"/>
              <a:t>hard to refactor</a:t>
            </a:r>
          </a:p>
          <a:p>
            <a:r>
              <a:rPr lang="en-SG" dirty="0"/>
              <a:t>difficult to share across routes</a:t>
            </a:r>
          </a:p>
          <a:p>
            <a:pPr marL="139700" indent="0">
              <a:buNone/>
            </a:pPr>
            <a:endParaRPr lang="en-SG" b="1" dirty="0"/>
          </a:p>
          <a:p>
            <a:pPr marL="0" indent="0">
              <a:buNone/>
            </a:pPr>
            <a:r>
              <a:rPr lang="en-SG" b="1" dirty="0"/>
              <a:t>This is why we use state management.</a:t>
            </a: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A store (</a:t>
            </a:r>
            <a:r>
              <a:rPr lang="en-SG" dirty="0" err="1"/>
              <a:t>Pinia</a:t>
            </a:r>
            <a:r>
              <a:rPr lang="en-SG" dirty="0"/>
              <a:t>) provides a </a:t>
            </a:r>
            <a:r>
              <a:rPr lang="en-SG" b="1" dirty="0"/>
              <a:t>central source of truth</a:t>
            </a:r>
            <a:r>
              <a:rPr lang="en-SG" dirty="0"/>
              <a:t>.</a:t>
            </a:r>
          </a:p>
          <a:p>
            <a:pPr marL="457200" lvl="1" indent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7878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5486A0D-F540-ACBD-B9AB-06787CB4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3D1271F6-CDCF-8C5E-C817-7750D87663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What </a:t>
            </a:r>
            <a:r>
              <a:rPr lang="en" dirty="0" err="1"/>
              <a:t>Pinia</a:t>
            </a:r>
            <a:r>
              <a:rPr lang="en" dirty="0"/>
              <a:t> Provides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FDBCF24F-CE4B-08A9-1E45-41E90EDAD8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SG" dirty="0" err="1"/>
              <a:t>Pinia</a:t>
            </a:r>
            <a:r>
              <a:rPr lang="en-SG" dirty="0"/>
              <a:t> = official Vue store library (recommended for Vue 3)</a:t>
            </a:r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r>
              <a:rPr lang="en-SG" dirty="0"/>
              <a:t>A store (</a:t>
            </a:r>
            <a:r>
              <a:rPr lang="en-SG" dirty="0" err="1"/>
              <a:t>Pinia</a:t>
            </a:r>
            <a:r>
              <a:rPr lang="en-SG" dirty="0"/>
              <a:t>) provides a </a:t>
            </a:r>
            <a:r>
              <a:rPr lang="en-SG" b="1" dirty="0"/>
              <a:t>central source of truth</a:t>
            </a:r>
            <a:r>
              <a:rPr lang="en-SG" dirty="0"/>
              <a:t>. It has three concepts</a:t>
            </a:r>
          </a:p>
          <a:p>
            <a:pPr marL="139700" indent="0">
              <a:buNone/>
            </a:pPr>
            <a:endParaRPr lang="en-SG" dirty="0"/>
          </a:p>
          <a:p>
            <a:r>
              <a:rPr lang="en-SG" b="1" dirty="0"/>
              <a:t>state</a:t>
            </a:r>
            <a:r>
              <a:rPr lang="en-SG" dirty="0"/>
              <a:t>: shared reactive data</a:t>
            </a:r>
          </a:p>
          <a:p>
            <a:r>
              <a:rPr lang="en-SG" b="1" dirty="0"/>
              <a:t>getters</a:t>
            </a:r>
            <a:r>
              <a:rPr lang="en-SG" dirty="0"/>
              <a:t>: derived values (like computed)</a:t>
            </a:r>
          </a:p>
          <a:p>
            <a:r>
              <a:rPr lang="en-SG" b="1" dirty="0"/>
              <a:t>actions</a:t>
            </a:r>
            <a:r>
              <a:rPr lang="en-SG" dirty="0"/>
              <a:t>: methods (sync or async) to update state</a:t>
            </a:r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r>
              <a:rPr lang="en-SG" dirty="0"/>
              <a:t>equivalent of data, computed, and methods in components</a:t>
            </a:r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6DAC6EB4-AE12-47BE-CC62-58E3E961DBA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31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Without a store, you must pass props/events through many layers:</a:t>
            </a:r>
          </a:p>
          <a:p>
            <a:r>
              <a:rPr lang="en-SG" dirty="0"/>
              <a:t>messy</a:t>
            </a:r>
          </a:p>
          <a:p>
            <a:r>
              <a:rPr lang="en-SG" dirty="0"/>
              <a:t>hard to refactor</a:t>
            </a:r>
          </a:p>
          <a:p>
            <a:r>
              <a:rPr lang="en-SG" dirty="0"/>
              <a:t>difficult to share across routes</a:t>
            </a:r>
          </a:p>
          <a:p>
            <a:pPr marL="139700" indent="0">
              <a:buNone/>
            </a:pPr>
            <a:endParaRPr lang="en-SG" b="1" dirty="0"/>
          </a:p>
          <a:p>
            <a:pPr marL="0" indent="0">
              <a:buNone/>
            </a:pPr>
            <a:r>
              <a:rPr lang="en-SG" b="1" dirty="0"/>
              <a:t>This is why we use state management.</a:t>
            </a: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822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0744009-4222-5B75-58A6-E99B52B9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A025680D-D8EF-9AD1-3C2F-B03630F560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When Should Y</a:t>
            </a:r>
            <a:r>
              <a:rPr lang="en-SG" dirty="0"/>
              <a:t>o</a:t>
            </a:r>
            <a:r>
              <a:rPr lang="en" dirty="0"/>
              <a:t>u Use a Store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D4B2BCEC-92D9-D3E8-B423-8C7C5AC22D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73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SG" dirty="0"/>
              <a:t>A store should contain data that can be accessed throughout your application. This includes data that is used in many places. </a:t>
            </a:r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r>
              <a:rPr lang="en-SG" dirty="0"/>
              <a:t>For example</a:t>
            </a:r>
          </a:p>
          <a:p>
            <a:pPr marL="596900" lvl="1" indent="0">
              <a:buNone/>
            </a:pPr>
            <a:r>
              <a:rPr lang="en-SG" dirty="0"/>
              <a:t>user information that is displayed in the navbar</a:t>
            </a:r>
          </a:p>
          <a:p>
            <a:pPr marL="596900" lvl="1" indent="0">
              <a:buNone/>
            </a:pPr>
            <a:r>
              <a:rPr lang="en-SG" dirty="0"/>
              <a:t>data that needs to be preserved through pages in a very complicated multi-step form.</a:t>
            </a:r>
          </a:p>
          <a:p>
            <a:pPr marL="596900" lvl="1" indent="0">
              <a:buNone/>
            </a:pPr>
            <a:r>
              <a:rPr lang="en-SG" dirty="0"/>
              <a:t>In our running example (see next slides), products go in a store because products list may be reused by many views (products page, details page, etc.)</a:t>
            </a:r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4E71BA9E-248C-0791-055F-BB8AB5090B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31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SG" dirty="0"/>
              <a:t>On the other hand, you should avoid including in the store local data that could be hosted in a component instead, e.g. the visibility of an element local to a page.</a:t>
            </a:r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r>
              <a:rPr lang="en-SG" dirty="0"/>
              <a:t>Not all applications need access to a global state, but if yours need one, </a:t>
            </a:r>
            <a:r>
              <a:rPr lang="en-SG" dirty="0" err="1"/>
              <a:t>Pinia</a:t>
            </a:r>
            <a:r>
              <a:rPr lang="en-SG" dirty="0"/>
              <a:t> will make your life easier.</a:t>
            </a:r>
          </a:p>
          <a:p>
            <a:pPr marL="457200" lvl="1" indent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59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3B85E3E-22A3-ABC7-B538-9760074D3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3353B374-BE6C-8353-C5AC-548AD40AF5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Running Example (1)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BE93CF9D-7630-9354-2851-C76B4E47CC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dirty="0"/>
              <a:t>As a running example to understand state management concepts, we shall use an e-commerce-style mini app where multiple pages/components need the same shared state.</a:t>
            </a:r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r>
              <a:rPr lang="en-SG" b="1" dirty="0"/>
              <a:t>Observe the codes given in the resource folder.</a:t>
            </a:r>
          </a:p>
          <a:p>
            <a:pPr marL="0" lvl="0" indent="0">
              <a:buNone/>
            </a:pPr>
            <a:endParaRPr lang="en-SG" b="1" dirty="0"/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54F34522-EC2A-725A-F7C0-0662E47FEAA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SG" b="1" dirty="0">
                <a:latin typeface="+mn-lt"/>
              </a:rPr>
              <a:t>Same state used in many places</a:t>
            </a:r>
            <a:r>
              <a:rPr lang="en-SG" dirty="0">
                <a:latin typeface="+mn-lt"/>
              </a:rPr>
              <a:t> (navbar cart page, product page)</a:t>
            </a:r>
          </a:p>
          <a:p>
            <a:pPr marL="139700" indent="0">
              <a:buNone/>
            </a:pPr>
            <a:endParaRPr lang="en-SG" dirty="0">
              <a:latin typeface="+mn-lt"/>
            </a:endParaRPr>
          </a:p>
          <a:p>
            <a:pPr marL="139700" indent="0">
              <a:buNone/>
            </a:pPr>
            <a:r>
              <a:rPr lang="en-SG" b="1" dirty="0">
                <a:latin typeface="+mn-lt"/>
              </a:rPr>
              <a:t>Derived state (getters)</a:t>
            </a:r>
            <a:r>
              <a:rPr lang="en-SG" dirty="0">
                <a:latin typeface="+mn-lt"/>
              </a:rPr>
              <a:t> (cart item count, total price)</a:t>
            </a:r>
          </a:p>
          <a:p>
            <a:pPr marL="139700" indent="0">
              <a:buNone/>
            </a:pPr>
            <a:endParaRPr lang="en-SG" dirty="0">
              <a:latin typeface="+mn-lt"/>
            </a:endParaRPr>
          </a:p>
          <a:p>
            <a:pPr marL="139700" indent="0">
              <a:buNone/>
            </a:pPr>
            <a:r>
              <a:rPr lang="en-SG" b="1" dirty="0">
                <a:latin typeface="+mn-lt"/>
              </a:rPr>
              <a:t>Actions</a:t>
            </a:r>
            <a:r>
              <a:rPr lang="en-SG" dirty="0">
                <a:latin typeface="+mn-lt"/>
              </a:rPr>
              <a:t> (add/remove item, checkout, login/logout)</a:t>
            </a:r>
          </a:p>
          <a:p>
            <a:pPr marL="139700" indent="0">
              <a:buNone/>
            </a:pPr>
            <a:endParaRPr lang="en-SG" dirty="0">
              <a:latin typeface="+mn-lt"/>
            </a:endParaRPr>
          </a:p>
          <a:p>
            <a:pPr marL="139700" indent="0">
              <a:buNone/>
            </a:pPr>
            <a:r>
              <a:rPr lang="en-SG" b="1" dirty="0">
                <a:latin typeface="+mn-lt"/>
              </a:rPr>
              <a:t>Persistence</a:t>
            </a:r>
            <a:r>
              <a:rPr lang="en-SG" dirty="0">
                <a:latin typeface="+mn-lt"/>
              </a:rPr>
              <a:t> (save cart/user to </a:t>
            </a:r>
            <a:r>
              <a:rPr lang="en-SG" b="1" dirty="0" err="1">
                <a:latin typeface="+mn-lt"/>
              </a:rPr>
              <a:t>localStorage</a:t>
            </a:r>
            <a:r>
              <a:rPr lang="en-SG" dirty="0">
                <a:latin typeface="+mn-lt"/>
              </a:rPr>
              <a:t>)</a:t>
            </a:r>
          </a:p>
          <a:p>
            <a:pPr marL="139700" indent="0">
              <a:buNone/>
            </a:pPr>
            <a:endParaRPr lang="en-SG" dirty="0">
              <a:latin typeface="+mn-lt"/>
            </a:endParaRPr>
          </a:p>
          <a:p>
            <a:pPr marL="139700" indent="0">
              <a:buNone/>
            </a:pPr>
            <a:r>
              <a:rPr lang="en-SG" b="1" dirty="0">
                <a:latin typeface="+mn-lt"/>
              </a:rPr>
              <a:t>Async actions</a:t>
            </a:r>
            <a:r>
              <a:rPr lang="en-SG" dirty="0">
                <a:latin typeface="+mn-lt"/>
              </a:rPr>
              <a:t> (load products from your Express API)</a:t>
            </a:r>
          </a:p>
          <a:p>
            <a:pPr marL="457200" lvl="1" indent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4542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A7FA46E7-4B8F-F986-D7F4-996E5853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AF20C52D-37BC-EB70-7D1F-BE824D9841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Running Example (2)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FB0DE13F-10B9-0C3E-C354-BC68A86CD2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b="1" dirty="0" err="1"/>
              <a:t>MiniShop</a:t>
            </a:r>
            <a:r>
              <a:rPr lang="en-SG" dirty="0"/>
              <a:t> sells a small list of products. Users can:</a:t>
            </a:r>
          </a:p>
          <a:p>
            <a:pPr marL="0" lvl="0" indent="0">
              <a:buNone/>
            </a:pPr>
            <a:endParaRPr lang="en-SG" dirty="0"/>
          </a:p>
          <a:p>
            <a:pPr marL="482600" indent="-342900">
              <a:buFont typeface="+mj-lt"/>
              <a:buAutoNum type="arabicPeriod"/>
            </a:pPr>
            <a:r>
              <a:rPr lang="en-SG" dirty="0"/>
              <a:t>Browse products</a:t>
            </a:r>
          </a:p>
          <a:p>
            <a:pPr marL="482600" indent="-342900">
              <a:buFont typeface="+mj-lt"/>
              <a:buAutoNum type="arabicPeriod"/>
            </a:pPr>
            <a:r>
              <a:rPr lang="en-SG" dirty="0"/>
              <a:t>Add products to cart</a:t>
            </a:r>
          </a:p>
          <a:p>
            <a:pPr marL="482600" indent="-342900">
              <a:buFont typeface="+mj-lt"/>
              <a:buAutoNum type="arabicPeriod"/>
            </a:pPr>
            <a:r>
              <a:rPr lang="en-SG" dirty="0"/>
              <a:t>Change quantities in the cart</a:t>
            </a:r>
          </a:p>
          <a:p>
            <a:pPr marL="482600" indent="-342900">
              <a:buFont typeface="+mj-lt"/>
              <a:buAutoNum type="arabicPeriod"/>
            </a:pPr>
            <a:r>
              <a:rPr lang="en-SG" dirty="0"/>
              <a:t>See cart count in the navbar on every page</a:t>
            </a:r>
          </a:p>
          <a:p>
            <a:pPr marL="482600" indent="-342900">
              <a:buFont typeface="+mj-lt"/>
              <a:buAutoNum type="arabicPeriod"/>
            </a:pPr>
            <a:r>
              <a:rPr lang="en-SG" dirty="0"/>
              <a:t>“Login” to enable checkout</a:t>
            </a:r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2AC8D90D-A98D-5156-B25A-57E76DA5724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b="1" dirty="0"/>
              <a:t>Data Flow</a:t>
            </a:r>
          </a:p>
          <a:p>
            <a:pPr marL="0" indent="0">
              <a:buNone/>
            </a:pPr>
            <a:endParaRPr lang="en-SG" b="1" dirty="0"/>
          </a:p>
          <a:p>
            <a:r>
              <a:rPr lang="en-SG" dirty="0"/>
              <a:t>User clicks “Add to cart” → calls </a:t>
            </a:r>
            <a:r>
              <a:rPr lang="en-SG" dirty="0" err="1"/>
              <a:t>cartStore.addToCart</a:t>
            </a:r>
            <a:r>
              <a:rPr lang="en-SG" dirty="0"/>
              <a:t>(product) →  </a:t>
            </a:r>
            <a:r>
              <a:rPr lang="en-SG" dirty="0" err="1"/>
              <a:t>cartStore</a:t>
            </a:r>
            <a:r>
              <a:rPr lang="en-SG" dirty="0"/>
              <a:t> updates items[]</a:t>
            </a:r>
          </a:p>
          <a:p>
            <a:r>
              <a:rPr lang="en-SG" dirty="0"/>
              <a:t>Navbar reads </a:t>
            </a:r>
            <a:r>
              <a:rPr lang="en-SG" dirty="0" err="1"/>
              <a:t>cartStore.itemCount</a:t>
            </a:r>
            <a:endParaRPr lang="en-SG" dirty="0"/>
          </a:p>
          <a:p>
            <a:r>
              <a:rPr lang="en-SG" dirty="0"/>
              <a:t>Cart page reads </a:t>
            </a:r>
            <a:r>
              <a:rPr lang="en-SG" dirty="0" err="1"/>
              <a:t>cartStore.items</a:t>
            </a:r>
            <a:r>
              <a:rPr lang="en-SG" dirty="0"/>
              <a:t> and  </a:t>
            </a:r>
            <a:r>
              <a:rPr lang="en-SG" dirty="0" err="1"/>
              <a:t>cartStore.totalPrice</a:t>
            </a: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5338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29CB659-EC48-FC71-BD8B-A1200E35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F24996AA-631E-9485-298F-752984A5C4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Running Example (3)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854DF6CC-21B8-45E9-1B65-F076CE6705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SG" b="1" dirty="0"/>
              <a:t>Pages / Views (Vue Router)</a:t>
            </a:r>
          </a:p>
          <a:p>
            <a:pPr marL="0" lvl="0" indent="0">
              <a:buNone/>
            </a:pPr>
            <a:endParaRPr lang="en-SG" dirty="0"/>
          </a:p>
          <a:p>
            <a:r>
              <a:rPr lang="en-SG" b="1" dirty="0" err="1"/>
              <a:t>ProductsView</a:t>
            </a:r>
            <a:r>
              <a:rPr lang="en-SG" dirty="0"/>
              <a:t> (</a:t>
            </a:r>
            <a:r>
              <a:rPr lang="en-SG" b="1" dirty="0"/>
              <a:t>/products</a:t>
            </a:r>
            <a:r>
              <a:rPr lang="en-SG" dirty="0"/>
              <a:t>)</a:t>
            </a:r>
            <a:br>
              <a:rPr lang="en-SG" dirty="0"/>
            </a:br>
            <a:r>
              <a:rPr lang="en-SG" dirty="0"/>
              <a:t>Lists products, “Add to cart” buttons</a:t>
            </a:r>
          </a:p>
          <a:p>
            <a:endParaRPr lang="en-SG" dirty="0"/>
          </a:p>
          <a:p>
            <a:r>
              <a:rPr lang="en-SG" b="1" dirty="0" err="1"/>
              <a:t>CartView</a:t>
            </a:r>
            <a:r>
              <a:rPr lang="en-SG" dirty="0"/>
              <a:t> (</a:t>
            </a:r>
            <a:r>
              <a:rPr lang="en-SG" b="1" dirty="0"/>
              <a:t>/cart</a:t>
            </a:r>
            <a:r>
              <a:rPr lang="en-SG" dirty="0"/>
              <a:t>)</a:t>
            </a:r>
            <a:br>
              <a:rPr lang="en-SG" dirty="0"/>
            </a:br>
            <a:r>
              <a:rPr lang="en-SG" dirty="0"/>
              <a:t>Shows cart items, quantities, total, “Checkout”</a:t>
            </a:r>
          </a:p>
          <a:p>
            <a:endParaRPr lang="en-SG" dirty="0"/>
          </a:p>
          <a:p>
            <a:r>
              <a:rPr lang="en-SG" b="1" dirty="0" err="1"/>
              <a:t>LoginView</a:t>
            </a:r>
            <a:r>
              <a:rPr lang="en-SG" dirty="0"/>
              <a:t> (</a:t>
            </a:r>
            <a:r>
              <a:rPr lang="en-SG" b="1" dirty="0"/>
              <a:t>/login</a:t>
            </a:r>
            <a:r>
              <a:rPr lang="en-SG" dirty="0"/>
              <a:t>) </a:t>
            </a:r>
            <a:br>
              <a:rPr lang="en-SG" dirty="0"/>
            </a:br>
            <a:r>
              <a:rPr lang="en-SG" dirty="0"/>
              <a:t>Fake login to demonstrate auth store + route guards</a:t>
            </a:r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1A2C394D-0067-9D91-A2FB-05BF5FFAFD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SG" b="1" dirty="0"/>
              <a:t>Components (reusable)</a:t>
            </a:r>
          </a:p>
          <a:p>
            <a:pPr marL="139700" indent="0">
              <a:buNone/>
            </a:pPr>
            <a:endParaRPr lang="en-SG" dirty="0"/>
          </a:p>
          <a:p>
            <a:r>
              <a:rPr lang="en-SG" b="1" dirty="0" err="1"/>
              <a:t>NavBar.vue</a:t>
            </a:r>
            <a:r>
              <a:rPr lang="en-SG" dirty="0"/>
              <a:t> → shows cart count + login status</a:t>
            </a:r>
          </a:p>
          <a:p>
            <a:endParaRPr lang="en-SG" dirty="0"/>
          </a:p>
          <a:p>
            <a:r>
              <a:rPr lang="en-SG" b="1" dirty="0" err="1"/>
              <a:t>ProductCard.vue</a:t>
            </a:r>
            <a:r>
              <a:rPr lang="en-SG" dirty="0"/>
              <a:t> → product + add button</a:t>
            </a:r>
          </a:p>
          <a:p>
            <a:endParaRPr lang="en-SG" dirty="0"/>
          </a:p>
          <a:p>
            <a:r>
              <a:rPr lang="en-SG" b="1" dirty="0" err="1"/>
              <a:t>CartItemRow.vue</a:t>
            </a:r>
            <a:r>
              <a:rPr lang="en-SG" dirty="0"/>
              <a:t> → quantity controls per item</a:t>
            </a:r>
          </a:p>
          <a:p>
            <a:pPr marL="139700" indent="0">
              <a:buNone/>
            </a:pPr>
            <a:br>
              <a:rPr lang="en-SG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0111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546116A-6FF4-EB12-D5FB-AB588F962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7C8990A2-F9C9-E197-9B78-A47333766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Running Example (4)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ACE57C2A-5EF5-F544-C42E-7B2E4FF7FF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b="1" dirty="0" err="1"/>
              <a:t>Pinia</a:t>
            </a:r>
            <a:r>
              <a:rPr lang="en-SG" b="1" dirty="0"/>
              <a:t> Stores (State Management)</a:t>
            </a:r>
          </a:p>
          <a:p>
            <a:pPr marL="0" lvl="0" indent="0">
              <a:buNone/>
            </a:pPr>
            <a:endParaRPr lang="en-SG" dirty="0"/>
          </a:p>
          <a:p>
            <a:pPr marL="342900" lvl="0" indent="-342900">
              <a:buFont typeface="+mj-lt"/>
              <a:buAutoNum type="arabicPeriod"/>
            </a:pPr>
            <a:r>
              <a:rPr lang="en-SG" b="1" dirty="0" err="1"/>
              <a:t>useProductsStore</a:t>
            </a:r>
            <a:r>
              <a:rPr lang="en-SG" b="1" dirty="0"/>
              <a:t> (data + async)</a:t>
            </a:r>
          </a:p>
          <a:p>
            <a:pPr marL="457200" lvl="1" indent="0">
              <a:buNone/>
            </a:pPr>
            <a:r>
              <a:rPr lang="en-SG" dirty="0"/>
              <a:t>State:</a:t>
            </a:r>
          </a:p>
          <a:p>
            <a:pPr marL="742950" lvl="1" indent="-285750">
              <a:spcBef>
                <a:spcPts val="0"/>
              </a:spcBef>
              <a:buFontTx/>
              <a:buChar char="-"/>
            </a:pPr>
            <a:r>
              <a:rPr lang="en-SG" dirty="0"/>
              <a:t>products: []</a:t>
            </a:r>
          </a:p>
          <a:p>
            <a:pPr marL="742950" lvl="1" indent="-285750">
              <a:spcBef>
                <a:spcPts val="0"/>
              </a:spcBef>
              <a:buFontTx/>
              <a:buChar char="-"/>
            </a:pPr>
            <a:r>
              <a:rPr lang="en-SG" dirty="0"/>
              <a:t>loading, error</a:t>
            </a:r>
          </a:p>
          <a:p>
            <a:pPr marL="457200" lvl="1" indent="0">
              <a:buNone/>
            </a:pPr>
            <a:r>
              <a:rPr lang="en-SG" dirty="0"/>
              <a:t>Actions:</a:t>
            </a:r>
          </a:p>
          <a:p>
            <a:pPr marL="742950" lvl="1" indent="-285750">
              <a:spcBef>
                <a:spcPts val="0"/>
              </a:spcBef>
              <a:buFontTx/>
              <a:buChar char="-"/>
            </a:pPr>
            <a:r>
              <a:rPr lang="en-SG" dirty="0" err="1"/>
              <a:t>fetchProducts</a:t>
            </a:r>
            <a:r>
              <a:rPr lang="en-SG" dirty="0"/>
              <a:t>() (async GET request to Express API)</a:t>
            </a:r>
          </a:p>
          <a:p>
            <a:pPr marL="285750" indent="-285750">
              <a:buFontTx/>
              <a:buChar char="-"/>
            </a:pPr>
            <a:endParaRPr lang="en-SG" dirty="0"/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8AE14387-1439-294D-28BC-0C9C88126AE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482600" indent="-342900">
              <a:buFont typeface="+mj-lt"/>
              <a:buAutoNum type="arabicPeriod" startAt="2"/>
            </a:pPr>
            <a:r>
              <a:rPr lang="en-SG" b="1" dirty="0" err="1"/>
              <a:t>useCartStore</a:t>
            </a:r>
            <a:r>
              <a:rPr lang="en-SG" b="1" dirty="0"/>
              <a:t> </a:t>
            </a:r>
          </a:p>
          <a:p>
            <a:pPr marL="596900" lvl="1" indent="0">
              <a:buNone/>
            </a:pPr>
            <a:r>
              <a:rPr lang="en-SG" dirty="0"/>
              <a:t>State: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SG" dirty="0"/>
              <a:t>items: [ { </a:t>
            </a:r>
            <a:r>
              <a:rPr lang="en-SG" dirty="0" err="1"/>
              <a:t>productId</a:t>
            </a:r>
            <a:r>
              <a:rPr lang="en-SG" dirty="0"/>
              <a:t>, title, price, qty } ]</a:t>
            </a:r>
          </a:p>
          <a:p>
            <a:pPr marL="596900" lvl="1" indent="0">
              <a:buNone/>
            </a:pPr>
            <a:r>
              <a:rPr lang="en-SG" dirty="0"/>
              <a:t>Getters: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SG" dirty="0" err="1"/>
              <a:t>itemCount</a:t>
            </a:r>
            <a:r>
              <a:rPr lang="en-SG" dirty="0"/>
              <a:t> (sum of qty)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SG" dirty="0" err="1"/>
              <a:t>totalPrice</a:t>
            </a:r>
            <a:r>
              <a:rPr lang="en-SG" dirty="0"/>
              <a:t> 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SG" dirty="0" err="1"/>
              <a:t>isEmpty</a:t>
            </a:r>
            <a:endParaRPr lang="en-SG" dirty="0"/>
          </a:p>
          <a:p>
            <a:pPr marL="596900" lvl="1" indent="0">
              <a:buNone/>
            </a:pPr>
            <a:r>
              <a:rPr lang="en-SG" dirty="0"/>
              <a:t>Actions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SG" dirty="0" err="1"/>
              <a:t>addToCart</a:t>
            </a:r>
            <a:r>
              <a:rPr lang="en-SG" dirty="0"/>
              <a:t>(product)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SG" dirty="0" err="1"/>
              <a:t>removeFromCart</a:t>
            </a:r>
            <a:r>
              <a:rPr lang="en-SG" dirty="0"/>
              <a:t>(productid)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SG" dirty="0" err="1"/>
              <a:t>increaseQty</a:t>
            </a:r>
            <a:r>
              <a:rPr lang="en-SG" dirty="0"/>
              <a:t>(</a:t>
            </a:r>
            <a:r>
              <a:rPr lang="en-SG" dirty="0" err="1"/>
              <a:t>productId</a:t>
            </a:r>
            <a:r>
              <a:rPr lang="en-SG" dirty="0"/>
              <a:t>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SG" dirty="0" err="1"/>
              <a:t>decreaseQty</a:t>
            </a:r>
            <a:r>
              <a:rPr lang="en-SG" dirty="0"/>
              <a:t>(productid)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SG" dirty="0" err="1"/>
              <a:t>clearCart</a:t>
            </a:r>
            <a:r>
              <a:rPr lang="en-SG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06160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2A5A457-BAFC-979E-476B-201074B0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78E4BE3F-7F6D-ACE5-68EE-66EF091742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Running Example (5)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04BAC0B1-F004-D143-4FAE-2E33F10B5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5514942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b="1" dirty="0" err="1"/>
              <a:t>Pinia</a:t>
            </a:r>
            <a:r>
              <a:rPr lang="en-SG" b="1" dirty="0"/>
              <a:t> Stores (State Management)</a:t>
            </a:r>
          </a:p>
          <a:p>
            <a:pPr marL="0" lvl="0" indent="0">
              <a:buNone/>
            </a:pPr>
            <a:endParaRPr lang="en-SG" dirty="0"/>
          </a:p>
          <a:p>
            <a:pPr marL="342900" lvl="0" indent="-342900">
              <a:buFont typeface="+mj-lt"/>
              <a:buAutoNum type="arabicPeriod" startAt="3"/>
            </a:pPr>
            <a:r>
              <a:rPr lang="en-SG" b="1" dirty="0" err="1"/>
              <a:t>useAuthStore</a:t>
            </a:r>
            <a:r>
              <a:rPr lang="en-SG" b="1" dirty="0"/>
              <a:t> (data + async)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State:</a:t>
            </a:r>
          </a:p>
          <a:p>
            <a:pPr marL="742950" lvl="1" indent="-285750">
              <a:spcBef>
                <a:spcPts val="0"/>
              </a:spcBef>
              <a:buFontTx/>
              <a:buChar char="-"/>
            </a:pPr>
            <a:r>
              <a:rPr lang="en-SG" dirty="0"/>
              <a:t>user: null or { username }</a:t>
            </a:r>
          </a:p>
          <a:p>
            <a:pPr marL="742950" lvl="1" indent="-285750">
              <a:spcBef>
                <a:spcPts val="0"/>
              </a:spcBef>
              <a:buFontTx/>
              <a:buChar char="-"/>
            </a:pPr>
            <a:r>
              <a:rPr lang="en-SG" dirty="0"/>
              <a:t>token: ‘fake-token’ value that represents authentication</a:t>
            </a:r>
          </a:p>
          <a:p>
            <a:pPr marL="742950" lvl="1" indent="-285750">
              <a:spcBef>
                <a:spcPts val="0"/>
              </a:spcBef>
              <a:buFontTx/>
              <a:buChar char="-"/>
            </a:pPr>
            <a:r>
              <a:rPr lang="en-SG" dirty="0"/>
              <a:t>loading, error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Getters:</a:t>
            </a:r>
          </a:p>
          <a:p>
            <a:pPr marL="742950" lvl="1" indent="-285750">
              <a:spcBef>
                <a:spcPts val="0"/>
              </a:spcBef>
              <a:buFontTx/>
              <a:buChar char="-"/>
            </a:pPr>
            <a:r>
              <a:rPr lang="en-SG" dirty="0" err="1"/>
              <a:t>isLoggedIn</a:t>
            </a: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SG" dirty="0"/>
              <a:t>Actions:</a:t>
            </a:r>
          </a:p>
          <a:p>
            <a:pPr marL="742950" lvl="1" indent="-285750">
              <a:spcBef>
                <a:spcPts val="0"/>
              </a:spcBef>
              <a:buFontTx/>
              <a:buChar char="-"/>
            </a:pPr>
            <a:r>
              <a:rPr lang="en-SG" dirty="0"/>
              <a:t>login(username, password) : async POST request to Express API</a:t>
            </a:r>
          </a:p>
          <a:p>
            <a:pPr marL="742950" lvl="1" indent="-285750">
              <a:spcBef>
                <a:spcPts val="0"/>
              </a:spcBef>
              <a:buFontTx/>
              <a:buChar char="-"/>
            </a:pPr>
            <a:r>
              <a:rPr lang="en-SG" dirty="0"/>
              <a:t>logout</a:t>
            </a:r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06A6D460-B4C3-0FFD-EA49-4422B7F9E69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endParaRPr lang="en-SG" b="1" dirty="0"/>
          </a:p>
        </p:txBody>
      </p:sp>
      <p:sp>
        <p:nvSpPr>
          <p:cNvPr id="3" name="Google Shape;90;p17">
            <a:extLst>
              <a:ext uri="{FF2B5EF4-FFF2-40B4-BE49-F238E27FC236}">
                <a16:creationId xmlns:a16="http://schemas.microsoft.com/office/drawing/2014/main" id="{67ECAD97-D611-8D4C-9A6B-E0CEF82CAD9F}"/>
              </a:ext>
            </a:extLst>
          </p:cNvPr>
          <p:cNvSpPr txBox="1">
            <a:spLocks/>
          </p:cNvSpPr>
          <p:nvPr/>
        </p:nvSpPr>
        <p:spPr>
          <a:xfrm>
            <a:off x="4984800" y="1377625"/>
            <a:ext cx="3999900" cy="375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91928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9BEB5F1E-B453-5F6D-6727-51539AF5D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6E072EFD-25FE-887B-7463-8320DFA94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Setting Up (1)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8B91701E-FD9A-6060-406D-7CA9E87ADD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dirty="0"/>
              <a:t>We need to setup both the backend and the frontend, for this running example.</a:t>
            </a:r>
          </a:p>
          <a:p>
            <a:pPr marL="0" lvl="0" indent="0">
              <a:buNone/>
            </a:pPr>
            <a:endParaRPr lang="en-SG" b="1" dirty="0"/>
          </a:p>
          <a:p>
            <a:pPr marL="0" lvl="0" indent="0">
              <a:buNone/>
            </a:pPr>
            <a:r>
              <a:rPr lang="en-SG" b="1" dirty="0" err="1"/>
              <a:t>FrontEnd</a:t>
            </a:r>
            <a:r>
              <a:rPr lang="en-SG" b="1" dirty="0"/>
              <a:t> (resource folder): </a:t>
            </a:r>
            <a:r>
              <a:rPr lang="en-SG" b="1" dirty="0" err="1"/>
              <a:t>MiniShop</a:t>
            </a:r>
            <a:r>
              <a:rPr lang="en-SG" b="1" dirty="0"/>
              <a:t> app</a:t>
            </a:r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r>
              <a:rPr lang="en-SG" dirty="0"/>
              <a:t>Download resource folder and run the following commands in the terminal:</a:t>
            </a:r>
          </a:p>
          <a:p>
            <a:pPr marL="0" lvl="0" indent="0">
              <a:buNone/>
            </a:pP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SG" sz="1400" dirty="0"/>
              <a:t>cd resource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SG" sz="1400" dirty="0" err="1"/>
              <a:t>pnpm</a:t>
            </a:r>
            <a:r>
              <a:rPr lang="en-SG" sz="1400" dirty="0"/>
              <a:t> install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SG" sz="1400" dirty="0" err="1"/>
              <a:t>pnpm</a:t>
            </a:r>
            <a:r>
              <a:rPr lang="en-SG" sz="1400" dirty="0"/>
              <a:t> dev</a:t>
            </a:r>
          </a:p>
          <a:p>
            <a:pPr marL="0" lvl="0" indent="0">
              <a:buNone/>
            </a:pPr>
            <a:endParaRPr lang="en-SG" b="1" dirty="0"/>
          </a:p>
          <a:p>
            <a:pPr marL="0" lvl="0" indent="0">
              <a:buNone/>
            </a:pPr>
            <a:endParaRPr lang="en-SG" b="1" dirty="0"/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1FF7521C-BD20-9C81-6414-10A3724CE34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SG" b="1" dirty="0" err="1">
                <a:latin typeface="+mn-lt"/>
              </a:rPr>
              <a:t>BackEnd</a:t>
            </a:r>
            <a:r>
              <a:rPr lang="en-SG" b="1" dirty="0">
                <a:latin typeface="+mn-lt"/>
              </a:rPr>
              <a:t> (server/products folder): API </a:t>
            </a:r>
            <a:r>
              <a:rPr lang="en-SG" b="1" dirty="0" err="1">
                <a:latin typeface="+mn-lt"/>
              </a:rPr>
              <a:t>Mockup</a:t>
            </a:r>
            <a:r>
              <a:rPr lang="en-SG" b="1" dirty="0">
                <a:latin typeface="+mn-lt"/>
              </a:rPr>
              <a:t> using Node.js + </a:t>
            </a:r>
            <a:r>
              <a:rPr lang="en-SG" b="1" dirty="0" err="1">
                <a:latin typeface="+mn-lt"/>
              </a:rPr>
              <a:t>Express.js</a:t>
            </a:r>
            <a:endParaRPr lang="en-SG" b="1" dirty="0">
              <a:latin typeface="+mn-lt"/>
            </a:endParaRPr>
          </a:p>
          <a:p>
            <a:pPr marL="139700" indent="0">
              <a:buNone/>
            </a:pPr>
            <a:endParaRPr lang="en-SG" b="1" dirty="0">
              <a:latin typeface="+mn-lt"/>
            </a:endParaRPr>
          </a:p>
          <a:p>
            <a:pPr marL="139700" indent="0">
              <a:buNone/>
            </a:pPr>
            <a:r>
              <a:rPr lang="en-SG" b="1" dirty="0">
                <a:latin typeface="+mn-lt"/>
              </a:rPr>
              <a:t>It provides 3 APIs:</a:t>
            </a:r>
          </a:p>
          <a:p>
            <a:r>
              <a:rPr lang="en-SG" dirty="0"/>
              <a:t>GET /products # return a list of products</a:t>
            </a:r>
          </a:p>
          <a:p>
            <a:r>
              <a:rPr lang="en-SG" dirty="0"/>
              <a:t>POST /login # </a:t>
            </a:r>
            <a:r>
              <a:rPr lang="en-SG" dirty="0" err="1"/>
              <a:t>Mockup</a:t>
            </a:r>
            <a:r>
              <a:rPr lang="en-SG" dirty="0"/>
              <a:t> login that accepts any username/password</a:t>
            </a:r>
          </a:p>
          <a:p>
            <a:r>
              <a:rPr lang="en-SG" dirty="0"/>
              <a:t>POST /checkout # </a:t>
            </a:r>
            <a:r>
              <a:rPr lang="en-SG" dirty="0" err="1"/>
              <a:t>Mockup</a:t>
            </a:r>
            <a:r>
              <a:rPr lang="en-SG" dirty="0"/>
              <a:t> checkout</a:t>
            </a:r>
            <a:endParaRPr lang="en-US" dirty="0"/>
          </a:p>
          <a:p>
            <a:endParaRPr lang="en-US" dirty="0"/>
          </a:p>
          <a:p>
            <a:pPr marL="139700" indent="0">
              <a:buNone/>
            </a:pPr>
            <a:r>
              <a:rPr lang="en-US" dirty="0"/>
              <a:t>Download </a:t>
            </a:r>
            <a:r>
              <a:rPr lang="en-US" i="1" dirty="0" err="1"/>
              <a:t>server.zip</a:t>
            </a:r>
            <a:r>
              <a:rPr lang="en-US" i="1" dirty="0"/>
              <a:t> </a:t>
            </a:r>
            <a:r>
              <a:rPr lang="en-US" dirty="0"/>
              <a:t>and unzip. Run the following commands in the terminal:</a:t>
            </a:r>
          </a:p>
          <a:p>
            <a:pPr marL="596900" lvl="1" indent="0">
              <a:spcBef>
                <a:spcPts val="0"/>
              </a:spcBef>
              <a:buNone/>
            </a:pPr>
            <a:r>
              <a:rPr lang="en-US" sz="1600" dirty="0"/>
              <a:t>cd server/products</a:t>
            </a:r>
          </a:p>
          <a:p>
            <a:pPr marL="596900" lvl="1" indent="0">
              <a:spcBef>
                <a:spcPts val="0"/>
              </a:spcBef>
              <a:buNone/>
            </a:pPr>
            <a:r>
              <a:rPr lang="en-US" sz="1600" dirty="0" err="1"/>
              <a:t>pnpm</a:t>
            </a:r>
            <a:r>
              <a:rPr lang="en-US" sz="1600" dirty="0"/>
              <a:t> install</a:t>
            </a:r>
          </a:p>
          <a:p>
            <a:pPr marL="596900" lvl="1" indent="0">
              <a:spcBef>
                <a:spcPts val="0"/>
              </a:spcBef>
              <a:buNone/>
            </a:pPr>
            <a:r>
              <a:rPr lang="en-US" sz="1600" dirty="0" err="1"/>
              <a:t>pnpm</a:t>
            </a:r>
            <a:r>
              <a:rPr lang="en-US" sz="1600" dirty="0"/>
              <a:t> dev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2517122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350DA13-D55D-6510-0D88-AC65E4A6D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472C192D-84DB-1923-2F75-241283A0F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Setting Up (2)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F00750F2-3E5C-90D1-EE30-C842C0A0BB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dirty="0"/>
              <a:t>If correctly setup, visiting the </a:t>
            </a:r>
            <a:r>
              <a:rPr lang="en-SG" dirty="0" err="1"/>
              <a:t>MiniShop</a:t>
            </a:r>
            <a:r>
              <a:rPr lang="en-SG" dirty="0"/>
              <a:t> website should see the following result:</a:t>
            </a:r>
          </a:p>
          <a:p>
            <a:pPr marL="0" lvl="0" indent="0">
              <a:buNone/>
            </a:pPr>
            <a:endParaRPr lang="en-SG" sz="1400" dirty="0"/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sz="1400" dirty="0"/>
          </a:p>
          <a:p>
            <a:pPr marL="0" lvl="0" indent="0">
              <a:buNone/>
            </a:pPr>
            <a:r>
              <a:rPr lang="en-SG" dirty="0"/>
              <a:t>Note that the product data is queried from the backend server.</a:t>
            </a:r>
            <a:endParaRPr lang="en-SG" sz="1400" dirty="0"/>
          </a:p>
          <a:p>
            <a:pPr marL="0" lvl="0" indent="0">
              <a:buNone/>
            </a:pPr>
            <a:endParaRPr lang="en-SG" b="1" dirty="0"/>
          </a:p>
          <a:p>
            <a:pPr marL="0" lvl="0" indent="0">
              <a:buNone/>
            </a:pPr>
            <a:endParaRPr lang="en-SG" b="1" dirty="0"/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pic>
        <p:nvPicPr>
          <p:cNvPr id="4" name="Picture 3" descr="A screenshot of a product price list&#10;&#10;AI-generated content may be incorrect.">
            <a:extLst>
              <a:ext uri="{FF2B5EF4-FFF2-40B4-BE49-F238E27FC236}">
                <a16:creationId xmlns:a16="http://schemas.microsoft.com/office/drawing/2014/main" id="{8311F1EA-323B-43B2-E6BC-066129F09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600" y="1225225"/>
            <a:ext cx="4224441" cy="241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72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2BE4269-4B66-7951-D17C-200843197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DD72B77E-7B67-88AB-51E2-B2CEA085BB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 err="1"/>
              <a:t>Pinia</a:t>
            </a:r>
            <a:r>
              <a:rPr lang="en" dirty="0"/>
              <a:t> Setup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14547E69-EA2B-06F1-E13C-8386DC673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SG" b="1" u="sng" dirty="0"/>
              <a:t>Install </a:t>
            </a:r>
            <a:r>
              <a:rPr lang="en-SG" b="1" u="sng" dirty="0" err="1"/>
              <a:t>pinia</a:t>
            </a:r>
            <a:r>
              <a:rPr lang="en-SG" b="1" u="sng" dirty="0"/>
              <a:t> </a:t>
            </a:r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r>
              <a:rPr lang="en-SG" dirty="0"/>
              <a:t>In the terminal, go to the Vue project where you wish to use </a:t>
            </a:r>
            <a:r>
              <a:rPr lang="en-SG" dirty="0" err="1"/>
              <a:t>pinia</a:t>
            </a:r>
            <a:r>
              <a:rPr lang="en-SG" dirty="0"/>
              <a:t> and run.</a:t>
            </a:r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r>
              <a:rPr lang="en-SG" dirty="0" err="1"/>
              <a:t>pnpm</a:t>
            </a:r>
            <a:r>
              <a:rPr lang="en-SG" dirty="0"/>
              <a:t> add </a:t>
            </a:r>
            <a:r>
              <a:rPr lang="en-SG" dirty="0" err="1"/>
              <a:t>pinia</a:t>
            </a: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12735673-A096-D4D4-5060-59590DEA4C1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31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b="1" u="sng" dirty="0"/>
              <a:t>Import &amp; Use </a:t>
            </a:r>
            <a:r>
              <a:rPr lang="en-SG" b="1" u="sng" dirty="0" err="1"/>
              <a:t>Pinia</a:t>
            </a:r>
            <a:endParaRPr lang="en-SG" b="1" u="sng" dirty="0"/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b="1" dirty="0"/>
              <a:t>Example</a:t>
            </a:r>
            <a:r>
              <a:rPr lang="en-SG" dirty="0"/>
              <a:t> </a:t>
            </a:r>
            <a:r>
              <a:rPr lang="en-SG" i="1" dirty="0" err="1"/>
              <a:t>main.js</a:t>
            </a:r>
            <a:endParaRPr lang="en-SG" i="1" dirty="0"/>
          </a:p>
          <a:p>
            <a:pPr marL="0" indent="0">
              <a:buNone/>
            </a:pPr>
            <a:endParaRPr lang="en-SG" dirty="0"/>
          </a:p>
          <a:p>
            <a:pPr marL="0" lvl="1" indent="0">
              <a:spcBef>
                <a:spcPts val="0"/>
              </a:spcBef>
              <a:buNone/>
            </a:pPr>
            <a:r>
              <a:rPr lang="en-SG" dirty="0"/>
              <a:t>import { </a:t>
            </a:r>
            <a:r>
              <a:rPr lang="en-SG" dirty="0" err="1"/>
              <a:t>createApp</a:t>
            </a:r>
            <a:r>
              <a:rPr lang="en-SG" dirty="0"/>
              <a:t> } from '</a:t>
            </a:r>
            <a:r>
              <a:rPr lang="en-SG" dirty="0" err="1"/>
              <a:t>vue</a:t>
            </a:r>
            <a:r>
              <a:rPr lang="en-SG" dirty="0"/>
              <a:t>'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SG" dirty="0"/>
              <a:t>import { </a:t>
            </a:r>
            <a:r>
              <a:rPr lang="en-SG" dirty="0" err="1"/>
              <a:t>createPinia</a:t>
            </a:r>
            <a:r>
              <a:rPr lang="en-SG" dirty="0"/>
              <a:t> } from '</a:t>
            </a:r>
            <a:r>
              <a:rPr lang="en-SG" dirty="0" err="1"/>
              <a:t>pinia</a:t>
            </a:r>
            <a:r>
              <a:rPr lang="en-SG" dirty="0"/>
              <a:t>'</a:t>
            </a:r>
          </a:p>
          <a:p>
            <a:pPr marL="0" lvl="1" indent="0">
              <a:spcBef>
                <a:spcPts val="0"/>
              </a:spcBef>
              <a:buNone/>
            </a:pPr>
            <a:endParaRPr lang="en-SG" dirty="0"/>
          </a:p>
          <a:p>
            <a:pPr marL="0" lvl="1" indent="0">
              <a:spcBef>
                <a:spcPts val="0"/>
              </a:spcBef>
              <a:buNone/>
            </a:pPr>
            <a:r>
              <a:rPr lang="en-SG" dirty="0"/>
              <a:t>import App from './</a:t>
            </a:r>
            <a:r>
              <a:rPr lang="en-SG" dirty="0" err="1"/>
              <a:t>App.vue</a:t>
            </a:r>
            <a:r>
              <a:rPr lang="en-SG" dirty="0"/>
              <a:t>'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SG" dirty="0"/>
              <a:t>import router from './router'</a:t>
            </a:r>
          </a:p>
          <a:p>
            <a:pPr marL="0" lvl="1" indent="0">
              <a:spcBef>
                <a:spcPts val="0"/>
              </a:spcBef>
              <a:buNone/>
            </a:pPr>
            <a:endParaRPr lang="en-SG" dirty="0"/>
          </a:p>
          <a:p>
            <a:pPr marL="0" lvl="1" indent="0">
              <a:spcBef>
                <a:spcPts val="0"/>
              </a:spcBef>
              <a:buNone/>
            </a:pPr>
            <a:r>
              <a:rPr lang="en-SG" dirty="0" err="1"/>
              <a:t>const</a:t>
            </a:r>
            <a:r>
              <a:rPr lang="en-SG" dirty="0"/>
              <a:t> app = </a:t>
            </a:r>
            <a:r>
              <a:rPr lang="en-SG" dirty="0" err="1"/>
              <a:t>createApp</a:t>
            </a:r>
            <a:r>
              <a:rPr lang="en-SG" dirty="0"/>
              <a:t>(App)</a:t>
            </a:r>
          </a:p>
          <a:p>
            <a:pPr marL="0" lvl="1" indent="0">
              <a:spcBef>
                <a:spcPts val="0"/>
              </a:spcBef>
              <a:buNone/>
            </a:pPr>
            <a:endParaRPr lang="en-SG" dirty="0"/>
          </a:p>
          <a:p>
            <a:pPr marL="0" lvl="1" indent="0">
              <a:spcBef>
                <a:spcPts val="0"/>
              </a:spcBef>
              <a:buNone/>
            </a:pPr>
            <a:r>
              <a:rPr lang="en-SG" dirty="0" err="1"/>
              <a:t>app.use</a:t>
            </a:r>
            <a:r>
              <a:rPr lang="en-SG" dirty="0"/>
              <a:t>(</a:t>
            </a:r>
            <a:r>
              <a:rPr lang="en-SG" dirty="0" err="1"/>
              <a:t>createPinia</a:t>
            </a:r>
            <a:r>
              <a:rPr lang="en-SG" dirty="0"/>
              <a:t>())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SG" dirty="0" err="1"/>
              <a:t>app.use</a:t>
            </a:r>
            <a:r>
              <a:rPr lang="en-SG" dirty="0"/>
              <a:t>(router)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SG" dirty="0" err="1"/>
              <a:t>app.mount</a:t>
            </a:r>
            <a:r>
              <a:rPr lang="en-SG" dirty="0"/>
              <a:t>('#app')</a:t>
            </a:r>
          </a:p>
          <a:p>
            <a:pPr marL="457200" lvl="1" indent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714ABEF-B182-4210-B3BF-A7C99B67D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94" y="3090769"/>
            <a:ext cx="4164073" cy="112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3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62D851FE-0BAC-E803-7898-D524F0A3E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1018E6E0-51BC-3B10-6D40-E244C02E4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Defining a Store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6E4CBE79-C3F1-869C-9704-1DBF15D4E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A store is defined using </a:t>
            </a:r>
            <a:r>
              <a:rPr lang="en-SG" dirty="0" err="1"/>
              <a:t>defineStore</a:t>
            </a:r>
            <a:r>
              <a:rPr lang="en-SG" dirty="0"/>
              <a:t>() and that it requires a </a:t>
            </a:r>
            <a:r>
              <a:rPr lang="en-SG" b="1" dirty="0"/>
              <a:t>unique</a:t>
            </a:r>
            <a:r>
              <a:rPr lang="en-SG" dirty="0"/>
              <a:t> name, passed as the first argument:</a:t>
            </a:r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9D9A3558-1E18-6D70-BDC4-C220B6FC662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endParaRPr lang="en-SG" b="1" dirty="0"/>
          </a:p>
        </p:txBody>
      </p:sp>
      <p:sp>
        <p:nvSpPr>
          <p:cNvPr id="4" name="Google Shape;128;p22">
            <a:extLst>
              <a:ext uri="{FF2B5EF4-FFF2-40B4-BE49-F238E27FC236}">
                <a16:creationId xmlns:a16="http://schemas.microsoft.com/office/drawing/2014/main" id="{BE319620-6241-9298-5803-B631F35AAFFF}"/>
              </a:ext>
            </a:extLst>
          </p:cNvPr>
          <p:cNvSpPr txBox="1">
            <a:spLocks/>
          </p:cNvSpPr>
          <p:nvPr/>
        </p:nvSpPr>
        <p:spPr>
          <a:xfrm>
            <a:off x="4306265" y="1225225"/>
            <a:ext cx="47604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SG" b="1" dirty="0"/>
              <a:t>Example </a:t>
            </a:r>
            <a:r>
              <a:rPr lang="en-SG" i="1" dirty="0" err="1"/>
              <a:t>products.js</a:t>
            </a:r>
            <a:endParaRPr lang="en-SG" i="1" dirty="0"/>
          </a:p>
          <a:p>
            <a:pPr marL="0" indent="0">
              <a:buFont typeface="Open Sans"/>
              <a:buNone/>
            </a:pPr>
            <a:endParaRPr lang="en-SG" i="1" dirty="0"/>
          </a:p>
          <a:p>
            <a:pPr marL="0" indent="0">
              <a:buNone/>
            </a:pPr>
            <a:r>
              <a:rPr lang="en-SG" sz="1200" dirty="0"/>
              <a:t>import { </a:t>
            </a:r>
            <a:r>
              <a:rPr lang="en-SG" sz="1200" dirty="0" err="1"/>
              <a:t>defineStore</a:t>
            </a:r>
            <a:r>
              <a:rPr lang="en-SG" sz="1200" dirty="0"/>
              <a:t> } from '</a:t>
            </a:r>
            <a:r>
              <a:rPr lang="en-SG" sz="1200" dirty="0" err="1"/>
              <a:t>pinia</a:t>
            </a:r>
            <a:r>
              <a:rPr lang="en-SG" sz="1200" dirty="0"/>
              <a:t>'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export </a:t>
            </a:r>
            <a:r>
              <a:rPr lang="en-SG" sz="1200" dirty="0" err="1"/>
              <a:t>const</a:t>
            </a:r>
            <a:r>
              <a:rPr lang="en-SG" sz="1200" dirty="0"/>
              <a:t> </a:t>
            </a:r>
            <a:r>
              <a:rPr lang="en-SG" sz="1200" dirty="0" err="1"/>
              <a:t>useProductsStore</a:t>
            </a:r>
            <a:r>
              <a:rPr lang="en-SG" sz="1200" dirty="0"/>
              <a:t> = </a:t>
            </a:r>
            <a:r>
              <a:rPr lang="en-SG" sz="1200" dirty="0" err="1"/>
              <a:t>defineStore</a:t>
            </a:r>
            <a:r>
              <a:rPr lang="en-SG" sz="1200" dirty="0"/>
              <a:t>(‘products’,</a:t>
            </a:r>
          </a:p>
          <a:p>
            <a:pPr marL="0" indent="0">
              <a:buNone/>
            </a:pPr>
            <a:r>
              <a:rPr lang="en-SG" sz="1200" dirty="0"/>
              <a:t>  () =&gt; {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           // setup store =&gt; define states, getters, actions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})</a:t>
            </a:r>
          </a:p>
        </p:txBody>
      </p:sp>
      <p:sp>
        <p:nvSpPr>
          <p:cNvPr id="5" name="Google Shape;109;p8">
            <a:extLst>
              <a:ext uri="{FF2B5EF4-FFF2-40B4-BE49-F238E27FC236}">
                <a16:creationId xmlns:a16="http://schemas.microsoft.com/office/drawing/2014/main" id="{33F2DE16-610A-4C9C-7F27-F5B7D9744564}"/>
              </a:ext>
            </a:extLst>
          </p:cNvPr>
          <p:cNvSpPr/>
          <p:nvPr/>
        </p:nvSpPr>
        <p:spPr>
          <a:xfrm>
            <a:off x="559531" y="2389025"/>
            <a:ext cx="3055736" cy="2268200"/>
          </a:xfrm>
          <a:prstGeom prst="wedgeRoundRectCallout">
            <a:avLst>
              <a:gd name="adj1" fmla="val 72211"/>
              <a:gd name="adj2" fmla="val -46162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SG" sz="1200" dirty="0"/>
              <a:t>You can name the return value of `</a:t>
            </a:r>
            <a:r>
              <a:rPr lang="en-SG" sz="1200" dirty="0" err="1"/>
              <a:t>defineStore</a:t>
            </a:r>
            <a:r>
              <a:rPr lang="en-SG" sz="1200" dirty="0"/>
              <a:t>()` anything you want,</a:t>
            </a:r>
          </a:p>
          <a:p>
            <a:pPr marL="0" indent="0">
              <a:buNone/>
            </a:pPr>
            <a:r>
              <a:rPr lang="en-SG" sz="1200" dirty="0"/>
              <a:t>but it's best to use the name of the store and surround it with `</a:t>
            </a:r>
            <a:r>
              <a:rPr lang="en-SG" sz="1200" dirty="0" err="1"/>
              <a:t>use`and</a:t>
            </a:r>
            <a:r>
              <a:rPr lang="en-SG" sz="1200" dirty="0"/>
              <a:t> `Store` 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E.g. `</a:t>
            </a:r>
            <a:r>
              <a:rPr lang="en-SG" sz="1200" dirty="0" err="1"/>
              <a:t>products.js</a:t>
            </a:r>
            <a:r>
              <a:rPr lang="en-SG" sz="1200" dirty="0"/>
              <a:t>` =&gt; `</a:t>
            </a:r>
            <a:r>
              <a:rPr lang="en-SG" sz="1200" dirty="0" err="1"/>
              <a:t>useProuctsStore</a:t>
            </a:r>
            <a:r>
              <a:rPr lang="en-SG" sz="1200" dirty="0"/>
              <a:t>`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The first argument is a unique id of the store across your application.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The second argument setups the store.</a:t>
            </a:r>
          </a:p>
        </p:txBody>
      </p:sp>
    </p:spTree>
    <p:extLst>
      <p:ext uri="{BB962C8B-B14F-4D97-AF65-F5344CB8AC3E}">
        <p14:creationId xmlns:p14="http://schemas.microsoft.com/office/powerpoint/2010/main" val="3177838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8F4C7FD1-B3A3-2C93-BBE2-859C3640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57870A9F-AB67-0373-FC7E-3479B475E8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Setup the Store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22EE0858-ADE8-106E-72CE-741293A947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269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When defining a store, we can pass in a function that defines reactive properties and methods and returns an object with the properties and methods we want to expose.</a:t>
            </a:r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ref =&gt; state </a:t>
            </a:r>
          </a:p>
          <a:p>
            <a:r>
              <a:rPr lang="en-SG" dirty="0"/>
              <a:t>computed =&gt;  getter (refer to </a:t>
            </a:r>
            <a:r>
              <a:rPr lang="en-SG" dirty="0" err="1"/>
              <a:t>cart.js</a:t>
            </a:r>
            <a:r>
              <a:rPr lang="en-SG" dirty="0"/>
              <a:t> for an example)</a:t>
            </a:r>
          </a:p>
          <a:p>
            <a:r>
              <a:rPr lang="en-SG" dirty="0"/>
              <a:t>function =&gt;  action</a:t>
            </a:r>
          </a:p>
          <a:p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EB3F0AE4-940C-0AB9-9F02-6C6220D03AF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306265" y="1225225"/>
            <a:ext cx="4526035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endParaRPr lang="en-SG" b="1" dirty="0"/>
          </a:p>
        </p:txBody>
      </p:sp>
      <p:sp>
        <p:nvSpPr>
          <p:cNvPr id="4" name="Google Shape;128;p22">
            <a:extLst>
              <a:ext uri="{FF2B5EF4-FFF2-40B4-BE49-F238E27FC236}">
                <a16:creationId xmlns:a16="http://schemas.microsoft.com/office/drawing/2014/main" id="{71C88108-59E1-5BD8-1D33-988F9488E727}"/>
              </a:ext>
            </a:extLst>
          </p:cNvPr>
          <p:cNvSpPr txBox="1">
            <a:spLocks/>
          </p:cNvSpPr>
          <p:nvPr/>
        </p:nvSpPr>
        <p:spPr>
          <a:xfrm>
            <a:off x="4306265" y="1225224"/>
            <a:ext cx="4760400" cy="391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SG" b="1" dirty="0"/>
              <a:t>Example </a:t>
            </a:r>
            <a:r>
              <a:rPr lang="en-SG" i="1" dirty="0" err="1"/>
              <a:t>products.js</a:t>
            </a:r>
            <a:endParaRPr lang="en-SG" i="1" dirty="0"/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export </a:t>
            </a:r>
            <a:r>
              <a:rPr lang="en-SG" sz="1200" dirty="0" err="1"/>
              <a:t>const</a:t>
            </a:r>
            <a:r>
              <a:rPr lang="en-SG" sz="1200" dirty="0"/>
              <a:t> </a:t>
            </a:r>
            <a:r>
              <a:rPr lang="en-SG" sz="1200" dirty="0" err="1"/>
              <a:t>useProductsStore</a:t>
            </a:r>
            <a:r>
              <a:rPr lang="en-SG" sz="1200" dirty="0"/>
              <a:t> = </a:t>
            </a:r>
            <a:r>
              <a:rPr lang="en-SG" sz="1200" dirty="0" err="1"/>
              <a:t>defineStore</a:t>
            </a:r>
            <a:r>
              <a:rPr lang="en-SG" sz="1200" dirty="0"/>
              <a:t>('products', () =&gt; {</a:t>
            </a:r>
          </a:p>
          <a:p>
            <a:pPr marL="0" indent="0">
              <a:buNone/>
            </a:pPr>
            <a:endParaRPr lang="en-SG" sz="1200" b="1" dirty="0"/>
          </a:p>
          <a:p>
            <a:pPr marL="0" indent="0">
              <a:buNone/>
            </a:pPr>
            <a:r>
              <a:rPr lang="en-SG" sz="1200" b="1" dirty="0"/>
              <a:t>// state</a:t>
            </a:r>
          </a:p>
          <a:p>
            <a:pPr marL="0" indent="0">
              <a:buNone/>
            </a:pPr>
            <a:r>
              <a:rPr lang="en-SG" sz="1200" dirty="0" err="1"/>
              <a:t>const</a:t>
            </a:r>
            <a:r>
              <a:rPr lang="en-SG" sz="1200" dirty="0"/>
              <a:t> products = ref([])</a:t>
            </a:r>
          </a:p>
          <a:p>
            <a:pPr marL="0" indent="0">
              <a:buNone/>
            </a:pPr>
            <a:r>
              <a:rPr lang="en-SG" sz="1200" dirty="0"/>
              <a:t>…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b="1" dirty="0"/>
              <a:t>// action</a:t>
            </a:r>
          </a:p>
          <a:p>
            <a:pPr marL="0" indent="0">
              <a:buNone/>
            </a:pPr>
            <a:r>
              <a:rPr lang="en-SG" sz="1200" dirty="0"/>
              <a:t>async function </a:t>
            </a:r>
            <a:r>
              <a:rPr lang="en-SG" sz="1200" dirty="0" err="1"/>
              <a:t>fetchProducts</a:t>
            </a:r>
            <a:r>
              <a:rPr lang="en-SG" sz="1200" dirty="0"/>
              <a:t>() {</a:t>
            </a:r>
          </a:p>
          <a:p>
            <a:pPr marL="0" indent="0">
              <a:buNone/>
            </a:pPr>
            <a:r>
              <a:rPr lang="en-SG" sz="1200" dirty="0"/>
              <a:t>   …</a:t>
            </a:r>
          </a:p>
          <a:p>
            <a:pPr marL="0" indent="0">
              <a:buNone/>
            </a:pPr>
            <a:r>
              <a:rPr lang="en-SG" sz="1200" dirty="0"/>
              <a:t>   </a:t>
            </a:r>
            <a:r>
              <a:rPr lang="en-SG" sz="1200" dirty="0" err="1"/>
              <a:t>const</a:t>
            </a:r>
            <a:r>
              <a:rPr lang="en-SG" sz="1200" dirty="0"/>
              <a:t> response = await </a:t>
            </a:r>
            <a:r>
              <a:rPr lang="en-SG" sz="1200" dirty="0" err="1"/>
              <a:t>axios</a:t>
            </a:r>
            <a:r>
              <a:rPr lang="en-SG" sz="1200" dirty="0"/>
              <a:t>("http://localhost:8000/products");</a:t>
            </a:r>
          </a:p>
          <a:p>
            <a:pPr marL="0" indent="0">
              <a:buNone/>
            </a:pPr>
            <a:r>
              <a:rPr lang="en-SG" sz="1200" dirty="0"/>
              <a:t>   </a:t>
            </a:r>
            <a:r>
              <a:rPr lang="en-SG" sz="1200" dirty="0" err="1"/>
              <a:t>products.value</a:t>
            </a:r>
            <a:r>
              <a:rPr lang="en-SG" sz="1200" dirty="0"/>
              <a:t> = </a:t>
            </a:r>
            <a:r>
              <a:rPr lang="en-SG" sz="1200" dirty="0" err="1"/>
              <a:t>response.data</a:t>
            </a:r>
            <a:r>
              <a:rPr lang="en-SG" sz="1200" dirty="0"/>
              <a:t>;</a:t>
            </a:r>
          </a:p>
          <a:p>
            <a:pPr marL="0" indent="0">
              <a:buNone/>
            </a:pPr>
            <a:r>
              <a:rPr lang="en-SG" sz="1200" dirty="0"/>
              <a:t>   …</a:t>
            </a:r>
          </a:p>
          <a:p>
            <a:pPr marL="0" indent="0">
              <a:buNone/>
            </a:pPr>
            <a:r>
              <a:rPr lang="en-SG" sz="1200" dirty="0"/>
              <a:t>}</a:t>
            </a:r>
          </a:p>
          <a:p>
            <a:pPr marL="0" indent="0">
              <a:buNone/>
            </a:pPr>
            <a:r>
              <a:rPr lang="en-SG" sz="1200" dirty="0"/>
              <a:t>return { products, …, </a:t>
            </a:r>
            <a:r>
              <a:rPr lang="en-SG" sz="1200" dirty="0" err="1"/>
              <a:t>fetchProducts</a:t>
            </a:r>
            <a:r>
              <a:rPr lang="en-SG" sz="1200" dirty="0"/>
              <a:t> }</a:t>
            </a:r>
          </a:p>
          <a:p>
            <a:pPr marL="0" indent="0">
              <a:buNone/>
            </a:pPr>
            <a:r>
              <a:rPr lang="en-SG" sz="1200" dirty="0"/>
              <a:t>})</a:t>
            </a:r>
          </a:p>
        </p:txBody>
      </p:sp>
      <p:sp>
        <p:nvSpPr>
          <p:cNvPr id="3" name="Google Shape;109;p8">
            <a:extLst>
              <a:ext uri="{FF2B5EF4-FFF2-40B4-BE49-F238E27FC236}">
                <a16:creationId xmlns:a16="http://schemas.microsoft.com/office/drawing/2014/main" id="{FC16990C-59D6-EB01-1129-943B16FD3E3D}"/>
              </a:ext>
            </a:extLst>
          </p:cNvPr>
          <p:cNvSpPr/>
          <p:nvPr/>
        </p:nvSpPr>
        <p:spPr>
          <a:xfrm>
            <a:off x="999798" y="4242391"/>
            <a:ext cx="2424000" cy="739184"/>
          </a:xfrm>
          <a:prstGeom prst="wedgeRoundRectCallout">
            <a:avLst>
              <a:gd name="adj1" fmla="val 86076"/>
              <a:gd name="adj2" fmla="val 11556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must return all states/actions/getters; otherwise your app may break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9825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952296AD-9DE1-9C04-3944-820F2905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86E37AE3-0118-7FE3-501F-0A8EBFA541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Using a Store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537C8016-11BC-6955-0C89-C70FC2CBF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94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We have </a:t>
            </a:r>
            <a:r>
              <a:rPr lang="en-SG" i="1" dirty="0"/>
              <a:t>defined</a:t>
            </a:r>
            <a:r>
              <a:rPr lang="en-SG" dirty="0"/>
              <a:t> the store but the store won't be created until </a:t>
            </a:r>
            <a:r>
              <a:rPr lang="en-SG" i="1" dirty="0"/>
              <a:t>use...Store() </a:t>
            </a:r>
            <a:r>
              <a:rPr lang="en-SG" dirty="0"/>
              <a:t>is called within a component &lt;script setup&gt; </a:t>
            </a:r>
          </a:p>
          <a:p>
            <a:pPr marL="0" indent="0">
              <a:buNone/>
            </a:pP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AB2F6E6F-4957-F938-DB33-7F1E1A3A72F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306265" y="1225225"/>
            <a:ext cx="4526035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endParaRPr lang="en-SG" b="1" dirty="0"/>
          </a:p>
        </p:txBody>
      </p:sp>
      <p:sp>
        <p:nvSpPr>
          <p:cNvPr id="4" name="Google Shape;128;p22">
            <a:extLst>
              <a:ext uri="{FF2B5EF4-FFF2-40B4-BE49-F238E27FC236}">
                <a16:creationId xmlns:a16="http://schemas.microsoft.com/office/drawing/2014/main" id="{803FC83B-9601-C14F-904C-C16AD50307F1}"/>
              </a:ext>
            </a:extLst>
          </p:cNvPr>
          <p:cNvSpPr txBox="1">
            <a:spLocks/>
          </p:cNvSpPr>
          <p:nvPr/>
        </p:nvSpPr>
        <p:spPr>
          <a:xfrm>
            <a:off x="4306265" y="1225225"/>
            <a:ext cx="47604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SG" b="1" dirty="0"/>
              <a:t>Example: </a:t>
            </a:r>
            <a:r>
              <a:rPr lang="en-SG" i="1" dirty="0" err="1"/>
              <a:t>ProductsView.vue</a:t>
            </a:r>
            <a:endParaRPr lang="en-SG" i="1" dirty="0"/>
          </a:p>
          <a:p>
            <a:pPr marL="0" indent="0">
              <a:buFont typeface="Open Sans"/>
              <a:buNone/>
            </a:pPr>
            <a:endParaRPr lang="en-SG" i="1" dirty="0"/>
          </a:p>
          <a:p>
            <a:pPr marL="0" indent="0">
              <a:buNone/>
            </a:pPr>
            <a:r>
              <a:rPr lang="en-SG" sz="1200" dirty="0"/>
              <a:t>&lt;script setup&gt;</a:t>
            </a:r>
          </a:p>
          <a:p>
            <a:pPr marL="0" indent="0">
              <a:buNone/>
            </a:pPr>
            <a:r>
              <a:rPr lang="en-SG" sz="1200" dirty="0"/>
              <a:t>import { </a:t>
            </a:r>
            <a:r>
              <a:rPr lang="en-SG" sz="1200" dirty="0" err="1"/>
              <a:t>onMounted</a:t>
            </a:r>
            <a:r>
              <a:rPr lang="en-SG" sz="1200" dirty="0"/>
              <a:t> } from "</a:t>
            </a:r>
            <a:r>
              <a:rPr lang="en-SG" sz="1200" dirty="0" err="1"/>
              <a:t>vue</a:t>
            </a:r>
            <a:r>
              <a:rPr lang="en-SG" sz="1200" dirty="0"/>
              <a:t>"</a:t>
            </a:r>
          </a:p>
          <a:p>
            <a:pPr marL="0" indent="0">
              <a:buNone/>
            </a:pPr>
            <a:r>
              <a:rPr lang="en-SG" sz="1200" dirty="0"/>
              <a:t>import { </a:t>
            </a:r>
            <a:r>
              <a:rPr lang="en-SG" sz="1200" dirty="0" err="1"/>
              <a:t>useProductsStore</a:t>
            </a:r>
            <a:r>
              <a:rPr lang="en-SG" sz="1200" dirty="0"/>
              <a:t> } from "@/stores/products"</a:t>
            </a:r>
          </a:p>
          <a:p>
            <a:pPr marL="0" indent="0">
              <a:buNone/>
            </a:pPr>
            <a:r>
              <a:rPr lang="en-SG" sz="1200" dirty="0"/>
              <a:t>import </a:t>
            </a:r>
            <a:r>
              <a:rPr lang="en-SG" sz="1200" dirty="0" err="1"/>
              <a:t>ProductCard</a:t>
            </a:r>
            <a:r>
              <a:rPr lang="en-SG" sz="1200" dirty="0"/>
              <a:t> from "../components/</a:t>
            </a:r>
            <a:r>
              <a:rPr lang="en-SG" sz="1200" dirty="0" err="1"/>
              <a:t>ProductCard.vue</a:t>
            </a:r>
            <a:r>
              <a:rPr lang="en-SG" sz="1200" dirty="0"/>
              <a:t>"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 err="1"/>
              <a:t>const</a:t>
            </a:r>
            <a:r>
              <a:rPr lang="en-SG" sz="1200" dirty="0"/>
              <a:t> </a:t>
            </a:r>
            <a:r>
              <a:rPr lang="en-SG" sz="1200" dirty="0" err="1"/>
              <a:t>productsStore</a:t>
            </a:r>
            <a:r>
              <a:rPr lang="en-SG" sz="1200" dirty="0"/>
              <a:t> = </a:t>
            </a:r>
            <a:r>
              <a:rPr lang="en-SG" sz="1200" dirty="0" err="1"/>
              <a:t>useProductsStore</a:t>
            </a:r>
            <a:r>
              <a:rPr lang="en-SG" sz="1200" dirty="0"/>
              <a:t>()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 err="1"/>
              <a:t>onMounted</a:t>
            </a:r>
            <a:r>
              <a:rPr lang="en-SG" sz="1200" dirty="0"/>
              <a:t>(() =&gt; {</a:t>
            </a:r>
          </a:p>
          <a:p>
            <a:pPr marL="0" indent="0">
              <a:buNone/>
            </a:pPr>
            <a:r>
              <a:rPr lang="en-SG" sz="1200" dirty="0"/>
              <a:t>  if (</a:t>
            </a:r>
            <a:r>
              <a:rPr lang="en-SG" sz="1200" dirty="0" err="1"/>
              <a:t>productsStore.products.length</a:t>
            </a:r>
            <a:r>
              <a:rPr lang="en-SG" sz="1200" dirty="0"/>
              <a:t> === 0) {</a:t>
            </a:r>
          </a:p>
          <a:p>
            <a:pPr marL="0" indent="0">
              <a:buNone/>
            </a:pPr>
            <a:r>
              <a:rPr lang="en-SG" sz="1200" dirty="0"/>
              <a:t>       </a:t>
            </a:r>
            <a:r>
              <a:rPr lang="en-SG" sz="1200" dirty="0" err="1"/>
              <a:t>productsStore.fetchProducts</a:t>
            </a:r>
            <a:r>
              <a:rPr lang="en-SG" sz="1200" dirty="0"/>
              <a:t>();</a:t>
            </a:r>
          </a:p>
          <a:p>
            <a:pPr marL="0" indent="0">
              <a:buNone/>
            </a:pPr>
            <a:r>
              <a:rPr lang="en-SG" sz="1200" dirty="0"/>
              <a:t>   }</a:t>
            </a:r>
          </a:p>
          <a:p>
            <a:pPr marL="0" indent="0">
              <a:buNone/>
            </a:pPr>
            <a:r>
              <a:rPr lang="en-SG" sz="1200" dirty="0"/>
              <a:t>});</a:t>
            </a:r>
          </a:p>
          <a:p>
            <a:pPr marL="0" indent="0">
              <a:buNone/>
            </a:pPr>
            <a:r>
              <a:rPr lang="en-SG" sz="1200" dirty="0"/>
              <a:t>&lt;/script&gt;</a:t>
            </a:r>
          </a:p>
        </p:txBody>
      </p:sp>
      <p:sp>
        <p:nvSpPr>
          <p:cNvPr id="5" name="Google Shape;109;p8">
            <a:extLst>
              <a:ext uri="{FF2B5EF4-FFF2-40B4-BE49-F238E27FC236}">
                <a16:creationId xmlns:a16="http://schemas.microsoft.com/office/drawing/2014/main" id="{363A59A3-3AF8-0795-B9DA-7E60A902B8E5}"/>
              </a:ext>
            </a:extLst>
          </p:cNvPr>
          <p:cNvSpPr/>
          <p:nvPr/>
        </p:nvSpPr>
        <p:spPr>
          <a:xfrm>
            <a:off x="584931" y="3336040"/>
            <a:ext cx="2424000" cy="568758"/>
          </a:xfrm>
          <a:prstGeom prst="wedgeRoundRectCallout">
            <a:avLst>
              <a:gd name="adj1" fmla="val 104888"/>
              <a:gd name="adj2" fmla="val -96355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SG" sz="1200" dirty="0"/>
              <a:t>Similar to ref(), stores are reactive. </a:t>
            </a:r>
          </a:p>
        </p:txBody>
      </p:sp>
      <p:sp>
        <p:nvSpPr>
          <p:cNvPr id="6" name="Google Shape;109;p8">
            <a:extLst>
              <a:ext uri="{FF2B5EF4-FFF2-40B4-BE49-F238E27FC236}">
                <a16:creationId xmlns:a16="http://schemas.microsoft.com/office/drawing/2014/main" id="{0BD36A79-C61E-0F50-AED2-E2D891184CA0}"/>
              </a:ext>
            </a:extLst>
          </p:cNvPr>
          <p:cNvSpPr/>
          <p:nvPr/>
        </p:nvSpPr>
        <p:spPr>
          <a:xfrm>
            <a:off x="584931" y="4133850"/>
            <a:ext cx="2424000" cy="890750"/>
          </a:xfrm>
          <a:prstGeom prst="wedgeRoundRectCallout">
            <a:avLst>
              <a:gd name="adj1" fmla="val 106881"/>
              <a:gd name="adj2" fmla="val -83949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SG" sz="1200" dirty="0"/>
              <a:t>Access </a:t>
            </a:r>
            <a:r>
              <a:rPr lang="en-SG" sz="1200" dirty="0" err="1"/>
              <a:t>productsStore’s</a:t>
            </a:r>
            <a:r>
              <a:rPr lang="en-SG" sz="1200" dirty="0"/>
              <a:t> </a:t>
            </a:r>
            <a:r>
              <a:rPr lang="en-SG" sz="1200" dirty="0" err="1"/>
              <a:t>fetchProducts</a:t>
            </a:r>
            <a:r>
              <a:rPr lang="en-SG" sz="1200" dirty="0"/>
              <a:t>() action to fetch products when the component is mounted.</a:t>
            </a:r>
          </a:p>
        </p:txBody>
      </p:sp>
      <p:sp>
        <p:nvSpPr>
          <p:cNvPr id="7" name="Google Shape;109;p8">
            <a:extLst>
              <a:ext uri="{FF2B5EF4-FFF2-40B4-BE49-F238E27FC236}">
                <a16:creationId xmlns:a16="http://schemas.microsoft.com/office/drawing/2014/main" id="{C409763C-D820-07AF-3845-C06D6A07D6B5}"/>
              </a:ext>
            </a:extLst>
          </p:cNvPr>
          <p:cNvSpPr/>
          <p:nvPr/>
        </p:nvSpPr>
        <p:spPr>
          <a:xfrm>
            <a:off x="584931" y="2171424"/>
            <a:ext cx="2424000" cy="866687"/>
          </a:xfrm>
          <a:prstGeom prst="wedgeRoundRectCallout">
            <a:avLst>
              <a:gd name="adj1" fmla="val 100616"/>
              <a:gd name="adj2" fmla="val -28705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SG" sz="1200" dirty="0"/>
              <a:t>‘@’ is the alias for the </a:t>
            </a:r>
            <a:r>
              <a:rPr lang="en-SG" sz="1200" b="1" dirty="0" err="1"/>
              <a:t>src</a:t>
            </a:r>
            <a:r>
              <a:rPr lang="en-SG" sz="1200" dirty="0"/>
              <a:t> folder. It tells the bundler (Vite) to start looking directly from the </a:t>
            </a:r>
            <a:r>
              <a:rPr lang="en-SG" sz="1200" dirty="0" err="1"/>
              <a:t>src</a:t>
            </a:r>
            <a:r>
              <a:rPr lang="en-SG" sz="1200" dirty="0"/>
              <a:t> folder</a:t>
            </a:r>
          </a:p>
        </p:txBody>
      </p:sp>
    </p:spTree>
    <p:extLst>
      <p:ext uri="{BB962C8B-B14F-4D97-AF65-F5344CB8AC3E}">
        <p14:creationId xmlns:p14="http://schemas.microsoft.com/office/powerpoint/2010/main" val="335861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FCEDC45-EB5C-EE64-9F04-762A8BAE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A2CBDF9D-4FAF-693D-D3F5-90650C37BA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States: Accessing the State Property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371650BC-B7E8-95E7-FF35-1CE94FC96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You can directly read from and write to the state by accessing it through the store instance.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91815083-5716-6E4B-894C-1C25AF58376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306265" y="1225225"/>
            <a:ext cx="4526035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endParaRPr lang="en-SG" b="1" dirty="0"/>
          </a:p>
        </p:txBody>
      </p:sp>
      <p:sp>
        <p:nvSpPr>
          <p:cNvPr id="4" name="Google Shape;128;p22">
            <a:extLst>
              <a:ext uri="{FF2B5EF4-FFF2-40B4-BE49-F238E27FC236}">
                <a16:creationId xmlns:a16="http://schemas.microsoft.com/office/drawing/2014/main" id="{563CD994-5694-077E-2BFA-DBE0DF008082}"/>
              </a:ext>
            </a:extLst>
          </p:cNvPr>
          <p:cNvSpPr txBox="1">
            <a:spLocks/>
          </p:cNvSpPr>
          <p:nvPr/>
        </p:nvSpPr>
        <p:spPr>
          <a:xfrm>
            <a:off x="4306265" y="1225225"/>
            <a:ext cx="47604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SG" b="1" dirty="0"/>
              <a:t>Example: </a:t>
            </a:r>
            <a:r>
              <a:rPr lang="en-SG" i="1" dirty="0" err="1"/>
              <a:t>CartView.vue</a:t>
            </a:r>
            <a:endParaRPr lang="en-SG" i="1" dirty="0"/>
          </a:p>
          <a:p>
            <a:pPr marL="0" indent="0">
              <a:buFont typeface="Open Sans"/>
              <a:buNone/>
            </a:pPr>
            <a:endParaRPr lang="en-SG" i="1" dirty="0"/>
          </a:p>
          <a:p>
            <a:pPr marL="0" indent="0">
              <a:buNone/>
            </a:pPr>
            <a:r>
              <a:rPr lang="en-SG" sz="1200" dirty="0"/>
              <a:t>&lt;script setup&gt;</a:t>
            </a:r>
          </a:p>
          <a:p>
            <a:pPr marL="0" indent="0">
              <a:buNone/>
            </a:pPr>
            <a:r>
              <a:rPr lang="en-SG" sz="1200" dirty="0"/>
              <a:t>import { </a:t>
            </a:r>
            <a:r>
              <a:rPr lang="en-SG" sz="1200" dirty="0" err="1"/>
              <a:t>useCartStore</a:t>
            </a:r>
            <a:r>
              <a:rPr lang="en-SG" sz="1200" dirty="0"/>
              <a:t> } from "../stores/cart";</a:t>
            </a:r>
            <a:br>
              <a:rPr lang="en-SG" sz="1200" dirty="0"/>
            </a:br>
            <a:endParaRPr lang="en-SG" sz="1200" dirty="0"/>
          </a:p>
          <a:p>
            <a:pPr marL="0" indent="0">
              <a:buNone/>
            </a:pPr>
            <a:r>
              <a:rPr lang="en-SG" sz="1200" dirty="0" err="1"/>
              <a:t>const</a:t>
            </a:r>
            <a:r>
              <a:rPr lang="en-SG" sz="1200" dirty="0"/>
              <a:t> cart = </a:t>
            </a:r>
            <a:r>
              <a:rPr lang="en-SG" sz="1200" dirty="0" err="1"/>
              <a:t>useCartStore</a:t>
            </a:r>
            <a:r>
              <a:rPr lang="en-SG" sz="1200" dirty="0"/>
              <a:t>();</a:t>
            </a:r>
          </a:p>
          <a:p>
            <a:pPr marL="0" indent="0">
              <a:buNone/>
            </a:pPr>
            <a:br>
              <a:rPr lang="en-SG" sz="1200" dirty="0"/>
            </a:br>
            <a:endParaRPr lang="en-SG" sz="1200" dirty="0"/>
          </a:p>
          <a:p>
            <a:pPr marL="0" indent="0">
              <a:buNone/>
            </a:pPr>
            <a:r>
              <a:rPr lang="en-SG" sz="1200" dirty="0" err="1"/>
              <a:t>const</a:t>
            </a:r>
            <a:r>
              <a:rPr lang="en-SG" sz="1200" dirty="0"/>
              <a:t> </a:t>
            </a:r>
            <a:r>
              <a:rPr lang="en-SG" sz="1200" dirty="0" err="1"/>
              <a:t>totalFormatted</a:t>
            </a:r>
            <a:r>
              <a:rPr lang="en-SG" sz="1200" dirty="0"/>
              <a:t> = computed(() =&gt; `$${</a:t>
            </a:r>
            <a:r>
              <a:rPr lang="en-SG" sz="1200" b="1" dirty="0" err="1"/>
              <a:t>cart.totalPrice</a:t>
            </a:r>
            <a:r>
              <a:rPr lang="en-SG" sz="1200" dirty="0" err="1"/>
              <a:t>.toFixed</a:t>
            </a:r>
            <a:r>
              <a:rPr lang="en-SG" sz="1200" dirty="0"/>
              <a:t>(2)}`);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&lt;/script&gt;</a:t>
            </a:r>
          </a:p>
          <a:p>
            <a:pPr marL="0" indent="0">
              <a:buNone/>
            </a:pP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757656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6ED97F8-5C4A-73F6-9F8F-A3EF7BA92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1526D5BE-5756-5240-38A1-2A579A124B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States: in Template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041ECA90-6401-D2BE-B386-8C35335A7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We can also use the state property in Template in a similar way to properties defined via ref()</a:t>
            </a:r>
          </a:p>
          <a:p>
            <a:pPr marL="0" indent="0">
              <a:buNone/>
            </a:pP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CE411E26-CA47-1A5C-9889-A1923A4270C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306265" y="1225225"/>
            <a:ext cx="4526035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endParaRPr lang="en-SG" b="1" dirty="0"/>
          </a:p>
        </p:txBody>
      </p:sp>
      <p:sp>
        <p:nvSpPr>
          <p:cNvPr id="4" name="Google Shape;128;p22">
            <a:extLst>
              <a:ext uri="{FF2B5EF4-FFF2-40B4-BE49-F238E27FC236}">
                <a16:creationId xmlns:a16="http://schemas.microsoft.com/office/drawing/2014/main" id="{6285F98A-09D4-5C2F-9F06-86577C2FF4CD}"/>
              </a:ext>
            </a:extLst>
          </p:cNvPr>
          <p:cNvSpPr txBox="1">
            <a:spLocks/>
          </p:cNvSpPr>
          <p:nvPr/>
        </p:nvSpPr>
        <p:spPr>
          <a:xfrm>
            <a:off x="4306265" y="1225225"/>
            <a:ext cx="47604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SG" b="1" dirty="0"/>
              <a:t>Example: </a:t>
            </a:r>
            <a:r>
              <a:rPr lang="en-SG" i="1" dirty="0" err="1"/>
              <a:t>ProductsView.vue</a:t>
            </a:r>
            <a:endParaRPr lang="en-SG" i="1" dirty="0"/>
          </a:p>
          <a:p>
            <a:pPr marL="0" indent="0">
              <a:buFont typeface="Open Sans"/>
              <a:buNone/>
            </a:pPr>
            <a:endParaRPr lang="en-SG" i="1" dirty="0"/>
          </a:p>
          <a:p>
            <a:pPr marL="0" indent="0">
              <a:buNone/>
            </a:pPr>
            <a:r>
              <a:rPr lang="en-SG" sz="1200" dirty="0"/>
              <a:t>&lt;template&gt;</a:t>
            </a:r>
          </a:p>
          <a:p>
            <a:pPr marL="0" indent="0">
              <a:buNone/>
            </a:pPr>
            <a:r>
              <a:rPr lang="en-SG" sz="1200" dirty="0"/>
              <a:t>…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&lt;</a:t>
            </a:r>
            <a:r>
              <a:rPr lang="en-SG" sz="1200" dirty="0" err="1"/>
              <a:t>ProductCard</a:t>
            </a:r>
            <a:endParaRPr lang="en-SG" sz="1200" dirty="0"/>
          </a:p>
          <a:p>
            <a:pPr marL="0" indent="0">
              <a:buNone/>
            </a:pPr>
            <a:r>
              <a:rPr lang="en-SG" sz="1200" dirty="0"/>
              <a:t>v-for="p in </a:t>
            </a:r>
            <a:r>
              <a:rPr lang="en-SG" sz="1200" dirty="0" err="1"/>
              <a:t>productsStore.products</a:t>
            </a:r>
            <a:r>
              <a:rPr lang="en-SG" sz="1200" dirty="0"/>
              <a:t>"</a:t>
            </a:r>
          </a:p>
          <a:p>
            <a:pPr marL="0" indent="0">
              <a:buNone/>
            </a:pPr>
            <a:r>
              <a:rPr lang="en-SG" sz="1200" dirty="0"/>
              <a:t>:key="</a:t>
            </a:r>
            <a:r>
              <a:rPr lang="en-SG" sz="1200" dirty="0" err="1"/>
              <a:t>p.id</a:t>
            </a:r>
            <a:r>
              <a:rPr lang="en-SG" sz="1200" dirty="0"/>
              <a:t>"</a:t>
            </a:r>
          </a:p>
          <a:p>
            <a:pPr marL="0" indent="0">
              <a:buNone/>
            </a:pPr>
            <a:r>
              <a:rPr lang="en-SG" sz="1200" dirty="0"/>
              <a:t>:product="p"</a:t>
            </a:r>
          </a:p>
          <a:p>
            <a:pPr marL="0" indent="0">
              <a:buNone/>
            </a:pPr>
            <a:r>
              <a:rPr lang="en-SG" sz="1200" dirty="0"/>
              <a:t>/&gt;</a:t>
            </a:r>
          </a:p>
          <a:p>
            <a:pPr marL="0" indent="0">
              <a:buNone/>
            </a:pPr>
            <a:r>
              <a:rPr lang="en-SG" sz="1200" dirty="0"/>
              <a:t>…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&lt;/template&gt;</a:t>
            </a:r>
          </a:p>
          <a:p>
            <a:pPr marL="0" indent="0">
              <a:buNone/>
            </a:pPr>
            <a:endParaRPr lang="en-SG" sz="1200" dirty="0"/>
          </a:p>
        </p:txBody>
      </p:sp>
      <p:sp>
        <p:nvSpPr>
          <p:cNvPr id="6" name="Google Shape;109;p8">
            <a:extLst>
              <a:ext uri="{FF2B5EF4-FFF2-40B4-BE49-F238E27FC236}">
                <a16:creationId xmlns:a16="http://schemas.microsoft.com/office/drawing/2014/main" id="{47099289-DDF4-3643-B04D-7C239353D33A}"/>
              </a:ext>
            </a:extLst>
          </p:cNvPr>
          <p:cNvSpPr/>
          <p:nvPr/>
        </p:nvSpPr>
        <p:spPr>
          <a:xfrm>
            <a:off x="475601" y="2658025"/>
            <a:ext cx="2424000" cy="890750"/>
          </a:xfrm>
          <a:prstGeom prst="wedgeRoundRectCallout">
            <a:avLst>
              <a:gd name="adj1" fmla="val 107701"/>
              <a:gd name="adj2" fmla="val -32622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SG" dirty="0"/>
              <a:t>Access </a:t>
            </a:r>
            <a:r>
              <a:rPr lang="en-SG" dirty="0" err="1"/>
              <a:t>productsStore’s</a:t>
            </a:r>
            <a:r>
              <a:rPr lang="en-SG" dirty="0"/>
              <a:t> products (state property)</a:t>
            </a:r>
          </a:p>
        </p:txBody>
      </p:sp>
      <p:sp>
        <p:nvSpPr>
          <p:cNvPr id="3" name="Google Shape;109;p8">
            <a:extLst>
              <a:ext uri="{FF2B5EF4-FFF2-40B4-BE49-F238E27FC236}">
                <a16:creationId xmlns:a16="http://schemas.microsoft.com/office/drawing/2014/main" id="{9D40E79D-5C92-7383-0BCE-227F4B479E3D}"/>
              </a:ext>
            </a:extLst>
          </p:cNvPr>
          <p:cNvSpPr/>
          <p:nvPr/>
        </p:nvSpPr>
        <p:spPr>
          <a:xfrm>
            <a:off x="6408300" y="2037522"/>
            <a:ext cx="2030022" cy="397565"/>
          </a:xfrm>
          <a:prstGeom prst="wedgeRoundRectCallout">
            <a:avLst>
              <a:gd name="adj1" fmla="val -95320"/>
              <a:gd name="adj2" fmla="val 73522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SG" dirty="0"/>
              <a:t>This is a component</a:t>
            </a:r>
          </a:p>
        </p:txBody>
      </p:sp>
    </p:spTree>
    <p:extLst>
      <p:ext uri="{BB962C8B-B14F-4D97-AF65-F5344CB8AC3E}">
        <p14:creationId xmlns:p14="http://schemas.microsoft.com/office/powerpoint/2010/main" val="3329978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08E028C-E09E-CA17-B2D5-5D6F0DF2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00688C15-B9AD-2FA9-13FB-FC8EAE2A76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States: for Data Binding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D7032946-FF7F-10C9-E14D-8FA6292A8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We can use the state property for data binding (v-bind, v-model)</a:t>
            </a:r>
          </a:p>
          <a:p>
            <a:pPr marL="0" indent="0">
              <a:buNone/>
            </a:pP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9840B07E-877E-DCF6-1FA1-579E2CB1E3C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306265" y="1225225"/>
            <a:ext cx="4526035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endParaRPr lang="en-SG" b="1" dirty="0"/>
          </a:p>
        </p:txBody>
      </p:sp>
      <p:sp>
        <p:nvSpPr>
          <p:cNvPr id="4" name="Google Shape;128;p22">
            <a:extLst>
              <a:ext uri="{FF2B5EF4-FFF2-40B4-BE49-F238E27FC236}">
                <a16:creationId xmlns:a16="http://schemas.microsoft.com/office/drawing/2014/main" id="{C1E62921-773A-BF52-A4D6-B78F00E6795C}"/>
              </a:ext>
            </a:extLst>
          </p:cNvPr>
          <p:cNvSpPr txBox="1">
            <a:spLocks/>
          </p:cNvSpPr>
          <p:nvPr/>
        </p:nvSpPr>
        <p:spPr>
          <a:xfrm>
            <a:off x="4306265" y="1225225"/>
            <a:ext cx="47604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SG" b="1" dirty="0"/>
              <a:t>Example</a:t>
            </a:r>
            <a:endParaRPr lang="en-SG" i="1" dirty="0"/>
          </a:p>
          <a:p>
            <a:pPr marL="0" indent="0">
              <a:buFont typeface="Open Sans"/>
              <a:buNone/>
            </a:pPr>
            <a:endParaRPr lang="en-SG" i="1" dirty="0"/>
          </a:p>
          <a:p>
            <a:pPr marL="0" indent="0">
              <a:buNone/>
            </a:pPr>
            <a:r>
              <a:rPr lang="en-SG" sz="1200" dirty="0"/>
              <a:t>&lt;script setup&gt;</a:t>
            </a:r>
          </a:p>
          <a:p>
            <a:pPr marL="0" indent="0">
              <a:buNone/>
            </a:pPr>
            <a:r>
              <a:rPr lang="en-SG" sz="1200" dirty="0"/>
              <a:t>     …</a:t>
            </a:r>
          </a:p>
          <a:p>
            <a:pPr marL="0" indent="0">
              <a:buNone/>
            </a:pPr>
            <a:r>
              <a:rPr lang="en-SG" sz="1200" dirty="0"/>
              <a:t>     </a:t>
            </a:r>
            <a:r>
              <a:rPr lang="en-SG" sz="1200" dirty="0" err="1"/>
              <a:t>const</a:t>
            </a:r>
            <a:r>
              <a:rPr lang="en-SG" sz="1200" dirty="0"/>
              <a:t> store = </a:t>
            </a:r>
            <a:r>
              <a:rPr lang="en-SG" sz="1200" dirty="0" err="1"/>
              <a:t>useStore</a:t>
            </a:r>
            <a:r>
              <a:rPr lang="en-SG" sz="1200" dirty="0"/>
              <a:t>()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     </a:t>
            </a:r>
            <a:r>
              <a:rPr lang="en-SG" sz="1200" dirty="0" err="1"/>
              <a:t>store.count</a:t>
            </a:r>
            <a:r>
              <a:rPr lang="en-SG" sz="1200" dirty="0"/>
              <a:t>++</a:t>
            </a:r>
          </a:p>
          <a:p>
            <a:pPr marL="0" indent="0">
              <a:buNone/>
            </a:pPr>
            <a:r>
              <a:rPr lang="en-SG" sz="1200" dirty="0"/>
              <a:t>     …</a:t>
            </a:r>
          </a:p>
          <a:p>
            <a:pPr marL="0" indent="0">
              <a:buNone/>
            </a:pPr>
            <a:r>
              <a:rPr lang="en-SG" sz="1200" dirty="0"/>
              <a:t>&lt;/script&gt;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&lt;template&gt;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     &lt;input v-model="</a:t>
            </a:r>
            <a:r>
              <a:rPr lang="en-SG" sz="1200" dirty="0" err="1"/>
              <a:t>store.count</a:t>
            </a:r>
            <a:r>
              <a:rPr lang="en-SG" sz="1200" dirty="0"/>
              <a:t>" type="number" /&gt;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&lt;/template&gt;</a:t>
            </a:r>
          </a:p>
          <a:p>
            <a:pPr marL="0" indent="0">
              <a:buNone/>
            </a:pP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134361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00AF19E1-D90D-1867-C9F5-5056517D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84A2E68F-76D9-4108-E8D3-0628BBF28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Getters: Computed Property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1CED5E6F-D81A-3641-17E9-163E127DF2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Getters are exactly the equivalent of </a:t>
            </a:r>
            <a:r>
              <a:rPr lang="en-SG" dirty="0">
                <a:hlinkClick r:id="rId3"/>
              </a:rPr>
              <a:t>computed values</a:t>
            </a:r>
            <a:r>
              <a:rPr lang="en-SG" dirty="0"/>
              <a:t> for the state of a Store. 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So you use them like a computed property</a:t>
            </a:r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A779F52F-6BA7-29CD-A8B7-49FF24C1BE3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306265" y="1225225"/>
            <a:ext cx="4526035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endParaRPr lang="en-SG" b="1" dirty="0"/>
          </a:p>
        </p:txBody>
      </p:sp>
      <p:sp>
        <p:nvSpPr>
          <p:cNvPr id="4" name="Google Shape;128;p22">
            <a:extLst>
              <a:ext uri="{FF2B5EF4-FFF2-40B4-BE49-F238E27FC236}">
                <a16:creationId xmlns:a16="http://schemas.microsoft.com/office/drawing/2014/main" id="{2DEB6DEC-419F-CF74-85CA-B32D0E3CDDCC}"/>
              </a:ext>
            </a:extLst>
          </p:cNvPr>
          <p:cNvSpPr txBox="1">
            <a:spLocks/>
          </p:cNvSpPr>
          <p:nvPr/>
        </p:nvSpPr>
        <p:spPr>
          <a:xfrm>
            <a:off x="4306265" y="1225225"/>
            <a:ext cx="47604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SG" b="1" dirty="0"/>
              <a:t>Example </a:t>
            </a:r>
            <a:r>
              <a:rPr lang="en-SG" i="1" dirty="0" err="1"/>
              <a:t>cart.js</a:t>
            </a:r>
            <a:endParaRPr lang="en-SG" i="1" dirty="0"/>
          </a:p>
          <a:p>
            <a:pPr marL="0" indent="0">
              <a:buFont typeface="Open Sans"/>
              <a:buNone/>
            </a:pPr>
            <a:endParaRPr lang="en-SG" i="1" dirty="0"/>
          </a:p>
          <a:p>
            <a:pPr marL="0" indent="0">
              <a:buNone/>
            </a:pPr>
            <a:r>
              <a:rPr lang="en-SG" sz="1200" dirty="0"/>
              <a:t>export </a:t>
            </a:r>
            <a:r>
              <a:rPr lang="en-SG" sz="1200" dirty="0" err="1"/>
              <a:t>const</a:t>
            </a:r>
            <a:r>
              <a:rPr lang="en-SG" sz="1200" dirty="0"/>
              <a:t> </a:t>
            </a:r>
            <a:r>
              <a:rPr lang="en-SG" sz="1200" dirty="0" err="1"/>
              <a:t>useCartStore</a:t>
            </a:r>
            <a:r>
              <a:rPr lang="en-SG" sz="1200" dirty="0"/>
              <a:t> = </a:t>
            </a:r>
            <a:r>
              <a:rPr lang="en-SG" sz="1200" dirty="0" err="1"/>
              <a:t>defineStore</a:t>
            </a:r>
            <a:r>
              <a:rPr lang="en-SG" sz="1200" dirty="0"/>
              <a:t>('cart', () =&gt; {</a:t>
            </a:r>
          </a:p>
          <a:p>
            <a:pPr marL="0" indent="0">
              <a:buNone/>
            </a:pPr>
            <a:r>
              <a:rPr lang="en-SG" sz="1200" dirty="0"/>
              <a:t>// states</a:t>
            </a:r>
          </a:p>
          <a:p>
            <a:pPr marL="0" indent="0">
              <a:buNone/>
            </a:pPr>
            <a:r>
              <a:rPr lang="en-SG" sz="1200" dirty="0" err="1"/>
              <a:t>const</a:t>
            </a:r>
            <a:r>
              <a:rPr lang="en-SG" sz="1200" dirty="0"/>
              <a:t> items = ref([]) </a:t>
            </a:r>
            <a:br>
              <a:rPr lang="en-SG" sz="1200" dirty="0"/>
            </a:br>
            <a:endParaRPr lang="en-SG" sz="1200" dirty="0"/>
          </a:p>
          <a:p>
            <a:pPr marL="0" indent="0">
              <a:buNone/>
            </a:pPr>
            <a:r>
              <a:rPr lang="en-SG" sz="1200" dirty="0"/>
              <a:t>// getters</a:t>
            </a:r>
          </a:p>
          <a:p>
            <a:pPr marL="0" indent="0">
              <a:buNone/>
            </a:pPr>
            <a:r>
              <a:rPr lang="en-SG" sz="1200" dirty="0" err="1"/>
              <a:t>const</a:t>
            </a:r>
            <a:r>
              <a:rPr lang="en-SG" sz="1200" dirty="0"/>
              <a:t> </a:t>
            </a:r>
            <a:r>
              <a:rPr lang="en-SG" sz="1200" dirty="0" err="1"/>
              <a:t>itemCount</a:t>
            </a:r>
            <a:r>
              <a:rPr lang="en-SG" sz="1200" dirty="0"/>
              <a:t> = computed(() =&gt; </a:t>
            </a:r>
            <a:r>
              <a:rPr lang="en-SG" sz="1200" dirty="0" err="1"/>
              <a:t>items.value.reduce</a:t>
            </a:r>
            <a:r>
              <a:rPr lang="en-SG" sz="1200" dirty="0"/>
              <a:t>((sum, </a:t>
            </a:r>
            <a:r>
              <a:rPr lang="en-SG" sz="1200" dirty="0" err="1"/>
              <a:t>i</a:t>
            </a:r>
            <a:r>
              <a:rPr lang="en-SG" sz="1200" dirty="0"/>
              <a:t>) =&gt; sum + </a:t>
            </a:r>
            <a:r>
              <a:rPr lang="en-SG" sz="1200" dirty="0" err="1"/>
              <a:t>i.qty</a:t>
            </a:r>
            <a:r>
              <a:rPr lang="en-SG" sz="1200" dirty="0"/>
              <a:t>, 0))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 err="1"/>
              <a:t>const</a:t>
            </a:r>
            <a:r>
              <a:rPr lang="en-SG" sz="1200" dirty="0"/>
              <a:t> </a:t>
            </a:r>
            <a:r>
              <a:rPr lang="en-SG" sz="1200" dirty="0" err="1"/>
              <a:t>totalPrice</a:t>
            </a:r>
            <a:r>
              <a:rPr lang="en-SG" sz="1200" dirty="0"/>
              <a:t> = computed(() =&gt; </a:t>
            </a:r>
            <a:r>
              <a:rPr lang="en-SG" sz="1200" dirty="0" err="1"/>
              <a:t>items.value.reduce</a:t>
            </a:r>
            <a:r>
              <a:rPr lang="en-SG" sz="1200" dirty="0"/>
              <a:t>((sum, </a:t>
            </a:r>
            <a:r>
              <a:rPr lang="en-SG" sz="1200" dirty="0" err="1"/>
              <a:t>i</a:t>
            </a:r>
            <a:r>
              <a:rPr lang="en-SG" sz="1200" dirty="0"/>
              <a:t>) =&gt; sum + </a:t>
            </a:r>
            <a:r>
              <a:rPr lang="en-SG" sz="1200" dirty="0" err="1"/>
              <a:t>i.price</a:t>
            </a:r>
            <a:r>
              <a:rPr lang="en-SG" sz="1200" dirty="0"/>
              <a:t> * </a:t>
            </a:r>
            <a:r>
              <a:rPr lang="en-SG" sz="1200" dirty="0" err="1"/>
              <a:t>i.qty</a:t>
            </a:r>
            <a:r>
              <a:rPr lang="en-SG" sz="1200" dirty="0"/>
              <a:t>, 0))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 err="1"/>
              <a:t>const</a:t>
            </a:r>
            <a:r>
              <a:rPr lang="en-SG" sz="1200" dirty="0"/>
              <a:t> </a:t>
            </a:r>
            <a:r>
              <a:rPr lang="en-SG" sz="1200" dirty="0" err="1"/>
              <a:t>isEmpty</a:t>
            </a:r>
            <a:r>
              <a:rPr lang="en-SG" sz="1200" dirty="0"/>
              <a:t> = computed(() =&gt; </a:t>
            </a:r>
            <a:r>
              <a:rPr lang="en-SG" sz="1200" dirty="0" err="1"/>
              <a:t>items.value.length</a:t>
            </a:r>
            <a:r>
              <a:rPr lang="en-SG" sz="1200" dirty="0"/>
              <a:t> === 0)</a:t>
            </a:r>
          </a:p>
          <a:p>
            <a:pPr marL="0" indent="0">
              <a:buNone/>
            </a:pP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159565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306BF2F0-BD83-BE9D-151E-0108A2691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13821710-E1FB-5A0A-B6CA-A05128D9D9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Actions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10CDE8B9-4063-D3DB-9447-A338A39F6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dirty="0"/>
              <a:t>Actions are the equivalent of </a:t>
            </a:r>
            <a:r>
              <a:rPr lang="en-SG" dirty="0">
                <a:hlinkClick r:id="rId3"/>
              </a:rPr>
              <a:t>methods</a:t>
            </a:r>
            <a:r>
              <a:rPr lang="en-SG" dirty="0"/>
              <a:t> in components. They are defined like defining a function in JavaScript.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They typically define business logic, e.g., ”give a discount when the order is &gt; $50”.</a:t>
            </a:r>
          </a:p>
          <a:p>
            <a:pPr marL="13970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0E1F591D-5A0A-0886-83DD-221CFC5903B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306265" y="1225225"/>
            <a:ext cx="4526035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endParaRPr lang="en-SG" b="1" dirty="0"/>
          </a:p>
        </p:txBody>
      </p:sp>
      <p:sp>
        <p:nvSpPr>
          <p:cNvPr id="4" name="Google Shape;128;p22">
            <a:extLst>
              <a:ext uri="{FF2B5EF4-FFF2-40B4-BE49-F238E27FC236}">
                <a16:creationId xmlns:a16="http://schemas.microsoft.com/office/drawing/2014/main" id="{72CBBD56-98D9-E8CD-E97A-D60B2A68E9AC}"/>
              </a:ext>
            </a:extLst>
          </p:cNvPr>
          <p:cNvSpPr txBox="1">
            <a:spLocks/>
          </p:cNvSpPr>
          <p:nvPr/>
        </p:nvSpPr>
        <p:spPr>
          <a:xfrm>
            <a:off x="4306265" y="1225225"/>
            <a:ext cx="47604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SG" b="1" dirty="0"/>
              <a:t>Example </a:t>
            </a:r>
            <a:r>
              <a:rPr lang="en-SG" i="1" dirty="0" err="1"/>
              <a:t>cart.js</a:t>
            </a:r>
            <a:endParaRPr lang="en-SG" i="1" dirty="0"/>
          </a:p>
          <a:p>
            <a:pPr marL="0" indent="0">
              <a:buFont typeface="Open Sans"/>
              <a:buNone/>
            </a:pPr>
            <a:endParaRPr lang="en-SG" i="1" dirty="0"/>
          </a:p>
          <a:p>
            <a:pPr marL="0" indent="0">
              <a:buNone/>
            </a:pPr>
            <a:r>
              <a:rPr lang="en-SG" sz="1200" dirty="0"/>
              <a:t>export </a:t>
            </a:r>
            <a:r>
              <a:rPr lang="en-SG" sz="1200" dirty="0" err="1"/>
              <a:t>const</a:t>
            </a:r>
            <a:r>
              <a:rPr lang="en-SG" sz="1200" dirty="0"/>
              <a:t> </a:t>
            </a:r>
            <a:r>
              <a:rPr lang="en-SG" sz="1200" dirty="0" err="1"/>
              <a:t>useCartStore</a:t>
            </a:r>
            <a:r>
              <a:rPr lang="en-SG" sz="1200" dirty="0"/>
              <a:t> = </a:t>
            </a:r>
            <a:r>
              <a:rPr lang="en-SG" sz="1200" dirty="0" err="1"/>
              <a:t>defineStore</a:t>
            </a:r>
            <a:r>
              <a:rPr lang="en-SG" sz="1200" dirty="0"/>
              <a:t>('cart', () =&gt; {</a:t>
            </a:r>
          </a:p>
          <a:p>
            <a:pPr marL="0" indent="0">
              <a:buNone/>
            </a:pPr>
            <a:r>
              <a:rPr lang="en-SG" sz="1200" dirty="0"/>
              <a:t>   …</a:t>
            </a:r>
          </a:p>
          <a:p>
            <a:pPr marL="0" indent="0">
              <a:buNone/>
            </a:pPr>
            <a:r>
              <a:rPr lang="en-SG" sz="1200" dirty="0"/>
              <a:t>   </a:t>
            </a:r>
          </a:p>
          <a:p>
            <a:pPr marL="0" indent="0">
              <a:buNone/>
            </a:pPr>
            <a:r>
              <a:rPr lang="en-SG" sz="1200" dirty="0"/>
              <a:t>    // actions</a:t>
            </a:r>
          </a:p>
          <a:p>
            <a:pPr marL="139700" indent="0">
              <a:buNone/>
            </a:pPr>
            <a:r>
              <a:rPr lang="en-SG" sz="1200" dirty="0"/>
              <a:t>function </a:t>
            </a:r>
            <a:r>
              <a:rPr lang="en-SG" sz="1200" dirty="0" err="1"/>
              <a:t>removeFromCart</a:t>
            </a:r>
            <a:r>
              <a:rPr lang="en-SG" sz="1200" dirty="0"/>
              <a:t>(</a:t>
            </a:r>
            <a:r>
              <a:rPr lang="en-SG" sz="1200" dirty="0" err="1"/>
              <a:t>productId</a:t>
            </a:r>
            <a:r>
              <a:rPr lang="en-SG" sz="1200" dirty="0"/>
              <a:t>) {</a:t>
            </a:r>
          </a:p>
          <a:p>
            <a:pPr marL="139700" indent="0">
              <a:buNone/>
            </a:pPr>
            <a:r>
              <a:rPr lang="en-SG" sz="1200" dirty="0"/>
              <a:t>       </a:t>
            </a:r>
            <a:r>
              <a:rPr lang="en-SG" sz="1200" dirty="0" err="1"/>
              <a:t>items.value</a:t>
            </a:r>
            <a:r>
              <a:rPr lang="en-SG" sz="1200" dirty="0"/>
              <a:t> = </a:t>
            </a:r>
            <a:r>
              <a:rPr lang="en-SG" sz="1200" dirty="0" err="1"/>
              <a:t>items.value.filter</a:t>
            </a:r>
            <a:r>
              <a:rPr lang="en-SG" sz="1200" dirty="0"/>
              <a:t>((</a:t>
            </a:r>
            <a:r>
              <a:rPr lang="en-SG" sz="1200" dirty="0" err="1"/>
              <a:t>i</a:t>
            </a:r>
            <a:r>
              <a:rPr lang="en-SG" sz="1200" dirty="0"/>
              <a:t>) =&gt; </a:t>
            </a:r>
          </a:p>
          <a:p>
            <a:pPr marL="139700" indent="0">
              <a:buNone/>
            </a:pPr>
            <a:r>
              <a:rPr lang="en-SG" sz="1200" dirty="0"/>
              <a:t>		</a:t>
            </a:r>
            <a:r>
              <a:rPr lang="en-SG" sz="1200" dirty="0" err="1"/>
              <a:t>i.productId</a:t>
            </a:r>
            <a:r>
              <a:rPr lang="en-SG" sz="1200" dirty="0"/>
              <a:t> !== </a:t>
            </a:r>
            <a:r>
              <a:rPr lang="en-SG" sz="1200" dirty="0" err="1"/>
              <a:t>productId</a:t>
            </a:r>
            <a:r>
              <a:rPr lang="en-SG" sz="1200" dirty="0"/>
              <a:t>)</a:t>
            </a:r>
          </a:p>
          <a:p>
            <a:pPr marL="139700" indent="0">
              <a:buNone/>
            </a:pPr>
            <a:r>
              <a:rPr lang="en-SG" sz="1200" dirty="0"/>
              <a:t>}</a:t>
            </a:r>
          </a:p>
          <a:p>
            <a:pPr marL="0" indent="0">
              <a:buNone/>
            </a:pP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1734589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0E54730-2651-5B83-22E4-659015EA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BAC1ED97-133E-BE8F-E802-6A3C61EC17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Actions: Invoking Actions</a:t>
            </a:r>
            <a:endParaRPr dirty="0"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FB44B0D4-8D6B-375B-A2A5-7161465A3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SG" dirty="0"/>
              <a:t>Actions are invoked like regular functions and methods:</a:t>
            </a:r>
          </a:p>
          <a:p>
            <a:pPr marL="139700" indent="0">
              <a:buNone/>
            </a:pPr>
            <a:br>
              <a:rPr lang="en-SG" dirty="0"/>
            </a:br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lvl="0" indent="0">
              <a:buNone/>
            </a:pPr>
            <a:endParaRPr lang="en-SG" dirty="0"/>
          </a:p>
        </p:txBody>
      </p:sp>
      <p:sp>
        <p:nvSpPr>
          <p:cNvPr id="2" name="Google Shape;90;p17">
            <a:extLst>
              <a:ext uri="{FF2B5EF4-FFF2-40B4-BE49-F238E27FC236}">
                <a16:creationId xmlns:a16="http://schemas.microsoft.com/office/drawing/2014/main" id="{2C434520-479B-8D56-BA90-1CA24FCCEBD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306265" y="1225225"/>
            <a:ext cx="4526035" cy="3756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endParaRPr lang="en-SG" b="1" dirty="0"/>
          </a:p>
        </p:txBody>
      </p:sp>
      <p:sp>
        <p:nvSpPr>
          <p:cNvPr id="4" name="Google Shape;128;p22">
            <a:extLst>
              <a:ext uri="{FF2B5EF4-FFF2-40B4-BE49-F238E27FC236}">
                <a16:creationId xmlns:a16="http://schemas.microsoft.com/office/drawing/2014/main" id="{05C53DB4-176B-4DAB-EFD1-086B4497BE37}"/>
              </a:ext>
            </a:extLst>
          </p:cNvPr>
          <p:cNvSpPr txBox="1">
            <a:spLocks/>
          </p:cNvSpPr>
          <p:nvPr/>
        </p:nvSpPr>
        <p:spPr>
          <a:xfrm>
            <a:off x="4306265" y="1225225"/>
            <a:ext cx="47604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SG" b="1" dirty="0"/>
              <a:t>Example</a:t>
            </a:r>
            <a:endParaRPr lang="en-SG" i="1" dirty="0"/>
          </a:p>
          <a:p>
            <a:pPr marL="0" indent="0">
              <a:buFont typeface="Open Sans"/>
              <a:buNone/>
            </a:pPr>
            <a:endParaRPr lang="en-SG" i="1" dirty="0"/>
          </a:p>
          <a:p>
            <a:pPr marL="0" indent="0">
              <a:buNone/>
            </a:pPr>
            <a:r>
              <a:rPr lang="en-SG" sz="1200" dirty="0"/>
              <a:t>&lt;script setup&gt;</a:t>
            </a:r>
          </a:p>
          <a:p>
            <a:pPr marL="0" indent="0">
              <a:buNone/>
            </a:pPr>
            <a:r>
              <a:rPr lang="en-SG" sz="1200" dirty="0"/>
              <a:t>   </a:t>
            </a:r>
            <a:r>
              <a:rPr lang="en-SG" sz="1200" dirty="0" err="1"/>
              <a:t>const</a:t>
            </a:r>
            <a:r>
              <a:rPr lang="en-SG" sz="1200" dirty="0"/>
              <a:t> store = </a:t>
            </a:r>
            <a:r>
              <a:rPr lang="en-SG" sz="1200" dirty="0" err="1"/>
              <a:t>useCounterStore</a:t>
            </a:r>
            <a:r>
              <a:rPr lang="en-SG" sz="1200" dirty="0"/>
              <a:t>()</a:t>
            </a:r>
          </a:p>
          <a:p>
            <a:pPr marL="0" indent="0">
              <a:buNone/>
            </a:pPr>
            <a:r>
              <a:rPr lang="en-SG" sz="1200" dirty="0"/>
              <a:t>   </a:t>
            </a:r>
          </a:p>
          <a:p>
            <a:pPr marL="0" indent="0">
              <a:buNone/>
            </a:pPr>
            <a:r>
              <a:rPr lang="en-SG" sz="1200" dirty="0"/>
              <a:t>   // call the action as a method of the store</a:t>
            </a:r>
          </a:p>
          <a:p>
            <a:pPr marL="0" indent="0">
              <a:buNone/>
            </a:pPr>
            <a:r>
              <a:rPr lang="en-SG" sz="1200" dirty="0"/>
              <a:t>   </a:t>
            </a:r>
            <a:r>
              <a:rPr lang="en-SG" sz="1200" dirty="0" err="1"/>
              <a:t>store.randomizeCounter</a:t>
            </a:r>
            <a:r>
              <a:rPr lang="en-SG" sz="1200" dirty="0"/>
              <a:t>()</a:t>
            </a:r>
          </a:p>
          <a:p>
            <a:pPr marL="0" indent="0">
              <a:buNone/>
            </a:pPr>
            <a:r>
              <a:rPr lang="en-SG" sz="1200" dirty="0"/>
              <a:t>&lt;/script&gt;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&lt;template&gt;</a:t>
            </a:r>
          </a:p>
          <a:p>
            <a:pPr marL="0" indent="0">
              <a:buNone/>
            </a:pPr>
            <a:r>
              <a:rPr lang="en-SG" sz="1200" dirty="0"/>
              <a:t>  &lt;!– invoke action on the template --&gt;</a:t>
            </a:r>
          </a:p>
          <a:p>
            <a:pPr marL="0" indent="0">
              <a:buNone/>
            </a:pPr>
            <a:r>
              <a:rPr lang="en-SG" sz="1200" dirty="0"/>
              <a:t>  &lt;button @click="</a:t>
            </a:r>
            <a:r>
              <a:rPr lang="en-SG" sz="1200" dirty="0" err="1"/>
              <a:t>store.randomizeCounter</a:t>
            </a:r>
            <a:r>
              <a:rPr lang="en-SG" sz="1200" dirty="0"/>
              <a:t>()"&gt;</a:t>
            </a:r>
          </a:p>
          <a:p>
            <a:pPr marL="0" indent="0">
              <a:buNone/>
            </a:pPr>
            <a:r>
              <a:rPr lang="en-SG" sz="1200" dirty="0"/>
              <a:t>         Randomize</a:t>
            </a:r>
          </a:p>
          <a:p>
            <a:pPr marL="0" indent="0">
              <a:buNone/>
            </a:pPr>
            <a:r>
              <a:rPr lang="en-SG" sz="1200" dirty="0"/>
              <a:t>  &lt;/button&gt;</a:t>
            </a:r>
          </a:p>
          <a:p>
            <a:pPr marL="0" indent="0">
              <a:buNone/>
            </a:pPr>
            <a:r>
              <a:rPr lang="en-SG" sz="1200" dirty="0"/>
              <a:t>&lt;/template&gt;</a:t>
            </a:r>
          </a:p>
        </p:txBody>
      </p:sp>
    </p:spTree>
    <p:extLst>
      <p:ext uri="{BB962C8B-B14F-4D97-AF65-F5344CB8AC3E}">
        <p14:creationId xmlns:p14="http://schemas.microsoft.com/office/powerpoint/2010/main" val="3095697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Routing (revisit Week4 lecture)</a:t>
            </a:r>
            <a:endParaRPr dirty="0"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225224"/>
            <a:ext cx="4451686" cy="3857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uFill>
                  <a:noFill/>
                </a:uFill>
              </a:rPr>
              <a:t>Check out </a:t>
            </a:r>
            <a:r>
              <a:rPr lang="en-US" b="1" dirty="0" err="1">
                <a:uFill>
                  <a:noFill/>
                </a:uFill>
              </a:rPr>
              <a:t>App.vue</a:t>
            </a:r>
            <a:r>
              <a:rPr lang="en-US" dirty="0">
                <a:uFill>
                  <a:noFill/>
                </a:uFill>
              </a:rPr>
              <a:t> and </a:t>
            </a:r>
            <a:r>
              <a:rPr lang="en-US" b="1" dirty="0">
                <a:uFill>
                  <a:noFill/>
                </a:uFill>
              </a:rPr>
              <a:t>router/index.js </a:t>
            </a:r>
            <a:r>
              <a:rPr lang="en-US" dirty="0">
                <a:uFill>
                  <a:noFill/>
                </a:uFill>
              </a:rPr>
              <a:t>in the example app that we created based on the Quick Start slides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uFill>
                  <a:noFill/>
                </a:uFill>
              </a:rPr>
              <a:t>App.vue</a:t>
            </a:r>
            <a:r>
              <a:rPr lang="en-US" b="1" dirty="0">
                <a:uFill>
                  <a:noFill/>
                </a:uFill>
              </a:rPr>
              <a:t> </a:t>
            </a:r>
            <a:r>
              <a:rPr lang="en-US" dirty="0">
                <a:uFill>
                  <a:noFill/>
                </a:uFill>
              </a:rPr>
              <a:t>provides a default template which use &lt;</a:t>
            </a:r>
            <a:r>
              <a:rPr lang="en-US" dirty="0" err="1">
                <a:uFill>
                  <a:noFill/>
                </a:uFill>
              </a:rPr>
              <a:t>RouterView</a:t>
            </a:r>
            <a:r>
              <a:rPr lang="en-US" dirty="0">
                <a:uFill>
                  <a:noFill/>
                </a:uFill>
              </a:rPr>
              <a:t> /&gt;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Þ"/>
            </a:pPr>
            <a:r>
              <a:rPr lang="en-US" dirty="0">
                <a:uFill>
                  <a:noFill/>
                </a:uFill>
              </a:rPr>
              <a:t>This will link to router/index.js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uFill>
                  <a:noFill/>
                </a:uFill>
              </a:rPr>
              <a:t>In </a:t>
            </a:r>
            <a:r>
              <a:rPr lang="en-US" dirty="0" err="1">
                <a:uFill>
                  <a:noFill/>
                </a:uFill>
              </a:rPr>
              <a:t>App.vue</a:t>
            </a:r>
            <a:r>
              <a:rPr lang="en-US" dirty="0">
                <a:uFill>
                  <a:noFill/>
                </a:uFill>
              </a:rPr>
              <a:t> or any other component nested in </a:t>
            </a:r>
            <a:r>
              <a:rPr lang="en-US" dirty="0" err="1">
                <a:uFill>
                  <a:noFill/>
                </a:uFill>
              </a:rPr>
              <a:t>App.vue</a:t>
            </a:r>
            <a:r>
              <a:rPr lang="en-US" dirty="0">
                <a:uFill>
                  <a:noFill/>
                </a:uFill>
              </a:rPr>
              <a:t>, use &lt;</a:t>
            </a:r>
            <a:r>
              <a:rPr lang="en-US" dirty="0" err="1">
                <a:uFill>
                  <a:noFill/>
                </a:uFill>
              </a:rPr>
              <a:t>RouterLink</a:t>
            </a:r>
            <a:r>
              <a:rPr lang="en-US" dirty="0">
                <a:uFill>
                  <a:noFill/>
                </a:uFill>
              </a:rPr>
              <a:t>&gt;&lt;/</a:t>
            </a:r>
            <a:r>
              <a:rPr lang="en-US" dirty="0" err="1">
                <a:uFill>
                  <a:noFill/>
                </a:uFill>
              </a:rPr>
              <a:t>RouterLink</a:t>
            </a:r>
            <a:r>
              <a:rPr lang="en-US" dirty="0">
                <a:uFill>
                  <a:noFill/>
                </a:uFill>
              </a:rPr>
              <a:t>&gt; to map the URL to the specific Vue components. For example,</a:t>
            </a:r>
          </a:p>
          <a:p>
            <a:pPr marL="0" lvl="0" indent="0">
              <a:buNone/>
            </a:pPr>
            <a:r>
              <a:rPr lang="en-US" dirty="0">
                <a:uFill>
                  <a:noFill/>
                </a:uFill>
              </a:rPr>
              <a:t>“http://localhost:5173/about” maps to “AboutView.vue” component, which will be rendered in the &lt;</a:t>
            </a:r>
            <a:r>
              <a:rPr lang="en-US" dirty="0" err="1">
                <a:uFill>
                  <a:noFill/>
                </a:uFill>
              </a:rPr>
              <a:t>RouterView</a:t>
            </a:r>
            <a:r>
              <a:rPr lang="en-US" dirty="0">
                <a:uFill>
                  <a:noFill/>
                </a:uFill>
              </a:rPr>
              <a:t> /&gt; location in </a:t>
            </a:r>
            <a:r>
              <a:rPr lang="en-US" dirty="0" err="1">
                <a:uFill>
                  <a:noFill/>
                </a:uFill>
              </a:rPr>
              <a:t>App.vue</a:t>
            </a:r>
            <a:r>
              <a:rPr lang="en-US" dirty="0">
                <a:uFill>
                  <a:noFill/>
                </a:u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873CB-9369-857C-836B-51668D77EE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384119" y="1508917"/>
            <a:ext cx="1280160" cy="831300"/>
          </a:xfrm>
        </p:spPr>
        <p:txBody>
          <a:bodyPr/>
          <a:lstStyle/>
          <a:p>
            <a:pPr marL="139700" indent="0">
              <a:buNone/>
            </a:pPr>
            <a:r>
              <a:rPr lang="en-US" dirty="0" err="1"/>
              <a:t>App.vue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77DC506-74DD-2109-CE34-83CE03A799A3}"/>
              </a:ext>
            </a:extLst>
          </p:cNvPr>
          <p:cNvSpPr txBox="1">
            <a:spLocks/>
          </p:cNvSpPr>
          <p:nvPr/>
        </p:nvSpPr>
        <p:spPr>
          <a:xfrm>
            <a:off x="6617517" y="2624213"/>
            <a:ext cx="1726730" cy="33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39700" indent="0">
              <a:buFont typeface="Open Sans"/>
              <a:buNone/>
            </a:pPr>
            <a:r>
              <a:rPr lang="en-US" dirty="0"/>
              <a:t>router/index.js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8F0C7-1DFD-E829-4A8E-E185F5794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794" y="2749901"/>
            <a:ext cx="2171686" cy="20776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4EEF31-05E4-4CBE-14E1-4CE08CF56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794" y="1474020"/>
            <a:ext cx="2744325" cy="109773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E43FAE-B756-8037-56E6-F1DF124976C7}"/>
              </a:ext>
            </a:extLst>
          </p:cNvPr>
          <p:cNvCxnSpPr>
            <a:cxnSpLocks/>
          </p:cNvCxnSpPr>
          <p:nvPr/>
        </p:nvCxnSpPr>
        <p:spPr>
          <a:xfrm flipV="1">
            <a:off x="2392326" y="2477386"/>
            <a:ext cx="2247468" cy="1468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59F74D-8733-1673-C64A-D79FCD9084CE}"/>
              </a:ext>
            </a:extLst>
          </p:cNvPr>
          <p:cNvGrpSpPr/>
          <p:nvPr/>
        </p:nvGrpSpPr>
        <p:grpSpPr>
          <a:xfrm>
            <a:off x="2785662" y="3833737"/>
            <a:ext cx="1854130" cy="653203"/>
            <a:chOff x="3110662" y="2892056"/>
            <a:chExt cx="1697560" cy="1839437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5DF5F35-DAAF-4501-50A1-49022AE1A079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flipV="1">
              <a:off x="3110662" y="3591726"/>
              <a:ext cx="1562437" cy="113976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41515D80-661E-B534-6E75-C77BE1500F19}"/>
                </a:ext>
              </a:extLst>
            </p:cNvPr>
            <p:cNvSpPr/>
            <p:nvPr/>
          </p:nvSpPr>
          <p:spPr>
            <a:xfrm>
              <a:off x="4673100" y="2892056"/>
              <a:ext cx="135122" cy="1399337"/>
            </a:xfrm>
            <a:prstGeom prst="leftBrac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D3C6BA-72BC-4698-270E-36EDCDBDCD3C}"/>
              </a:ext>
            </a:extLst>
          </p:cNvPr>
          <p:cNvCxnSpPr>
            <a:cxnSpLocks/>
          </p:cNvCxnSpPr>
          <p:nvPr/>
        </p:nvCxnSpPr>
        <p:spPr>
          <a:xfrm flipV="1">
            <a:off x="3625702" y="2477386"/>
            <a:ext cx="1014091" cy="23501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798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5751F90D-41AB-AFC7-DB4A-0DE5A27E3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74529147-6F57-73BD-346A-62CD5F68DC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Routing: with Parameter (revisit Week4 lecture) </a:t>
            </a:r>
            <a:endParaRPr dirty="0"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B4E066FF-F48C-210E-D6ED-BD20E5939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4"/>
            <a:ext cx="4451686" cy="3857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uFill>
                  <a:noFill/>
                </a:uFill>
              </a:rPr>
              <a:t>In the routes, we can pass a parameter. 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>
              <a:buNone/>
            </a:pPr>
            <a:r>
              <a:rPr lang="en-US" dirty="0">
                <a:uFill>
                  <a:noFill/>
                </a:uFill>
              </a:rPr>
              <a:t>For example,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400" dirty="0">
                <a:uFill>
                  <a:noFill/>
                </a:uFill>
              </a:rPr>
              <a:t>{path: "/products/:id", component: ”</a:t>
            </a:r>
            <a:r>
              <a:rPr lang="en-US" sz="1400" dirty="0" err="1">
                <a:uFill>
                  <a:noFill/>
                </a:uFill>
              </a:rPr>
              <a:t>ProductsView</a:t>
            </a:r>
            <a:r>
              <a:rPr lang="en-US" sz="1400" dirty="0">
                <a:uFill>
                  <a:noFill/>
                </a:uFill>
              </a:rPr>
              <a:t>" }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US" sz="1400" dirty="0">
              <a:uFill>
                <a:noFill/>
              </a:uFill>
            </a:endParaRPr>
          </a:p>
          <a:p>
            <a:pPr marL="0" lvl="0" indent="0">
              <a:spcBef>
                <a:spcPts val="600"/>
              </a:spcBef>
              <a:buNone/>
            </a:pPr>
            <a:r>
              <a:rPr lang="en-US" dirty="0">
                <a:uFill>
                  <a:noFill/>
                </a:uFill>
              </a:rPr>
              <a:t>When the user visits the path, e.g., </a:t>
            </a:r>
            <a:r>
              <a:rPr lang="en-US" dirty="0">
                <a:uFill>
                  <a:noFill/>
                </a:uFill>
                <a:hlinkClick r:id="rId3"/>
              </a:rPr>
              <a:t>http://localhost:5173/products/1</a:t>
            </a:r>
            <a:r>
              <a:rPr lang="en-US" dirty="0">
                <a:uFill>
                  <a:noFill/>
                </a:uFill>
              </a:rPr>
              <a:t>, the router launches </a:t>
            </a:r>
            <a:r>
              <a:rPr lang="en-US" dirty="0" err="1">
                <a:highlight>
                  <a:srgbClr val="C0C0C0"/>
                </a:highlight>
                <a:uFill>
                  <a:noFill/>
                </a:uFill>
              </a:rPr>
              <a:t>ProductsView</a:t>
            </a:r>
            <a:r>
              <a:rPr lang="en-US" dirty="0">
                <a:uFill>
                  <a:noFill/>
                </a:uFill>
              </a:rPr>
              <a:t> component, passing it the parameter </a:t>
            </a:r>
            <a:r>
              <a:rPr lang="en-US" dirty="0">
                <a:highlight>
                  <a:srgbClr val="C0C0C0"/>
                </a:highlight>
                <a:uFill>
                  <a:noFill/>
                </a:uFill>
              </a:rPr>
              <a:t>id</a:t>
            </a:r>
            <a:r>
              <a:rPr lang="en-US" dirty="0">
                <a:uFill>
                  <a:noFill/>
                </a:uFill>
              </a:rPr>
              <a:t> with the value of </a:t>
            </a:r>
            <a:r>
              <a:rPr lang="en-US" dirty="0">
                <a:highlight>
                  <a:srgbClr val="C0C0C0"/>
                </a:highlight>
                <a:uFill>
                  <a:noFill/>
                </a:uFill>
              </a:rPr>
              <a:t>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That is, in </a:t>
            </a:r>
            <a:r>
              <a:rPr lang="en-US" dirty="0" err="1"/>
              <a:t>ProductsView</a:t>
            </a:r>
            <a:r>
              <a:rPr lang="en-US" dirty="0"/>
              <a:t> component, the parameter can be accessed via </a:t>
            </a:r>
            <a:r>
              <a:rPr lang="en-US" dirty="0" err="1">
                <a:highlight>
                  <a:srgbClr val="C0C0C0"/>
                </a:highlight>
              </a:rPr>
              <a:t>route.params.id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0D8EB-7F71-EECF-5FC3-116FB4A8539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Example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SG" dirty="0"/>
              <a:t>import { </a:t>
            </a:r>
            <a:r>
              <a:rPr lang="en-SG" dirty="0" err="1"/>
              <a:t>useRoute</a:t>
            </a:r>
            <a:r>
              <a:rPr lang="en-SG" dirty="0"/>
              <a:t> } from '</a:t>
            </a:r>
            <a:r>
              <a:rPr lang="en-SG" dirty="0" err="1"/>
              <a:t>vue</a:t>
            </a:r>
            <a:r>
              <a:rPr lang="en-SG" dirty="0"/>
              <a:t>-router’</a:t>
            </a:r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r>
              <a:rPr lang="en-SG" dirty="0"/>
              <a:t>// 1. Initialize the route hook </a:t>
            </a:r>
          </a:p>
          <a:p>
            <a:pPr marL="139700" indent="0">
              <a:buNone/>
            </a:pPr>
            <a:r>
              <a:rPr lang="en-SG" dirty="0" err="1"/>
              <a:t>const</a:t>
            </a:r>
            <a:r>
              <a:rPr lang="en-SG" dirty="0"/>
              <a:t> route = </a:t>
            </a:r>
            <a:r>
              <a:rPr lang="en-SG" dirty="0" err="1"/>
              <a:t>useRoute</a:t>
            </a:r>
            <a:r>
              <a:rPr lang="en-SG" dirty="0"/>
              <a:t>() </a:t>
            </a:r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r>
              <a:rPr lang="en-SG" dirty="0"/>
              <a:t>// 2. Read the parameter (Note: route params are always strings) </a:t>
            </a:r>
          </a:p>
          <a:p>
            <a:pPr marL="139700" indent="0">
              <a:buNone/>
            </a:pPr>
            <a:r>
              <a:rPr lang="en-SG" dirty="0" err="1"/>
              <a:t>const</a:t>
            </a:r>
            <a:r>
              <a:rPr lang="en-SG" dirty="0"/>
              <a:t> </a:t>
            </a:r>
            <a:r>
              <a:rPr lang="en-SG" dirty="0" err="1"/>
              <a:t>userId</a:t>
            </a:r>
            <a:r>
              <a:rPr lang="en-SG" dirty="0"/>
              <a:t> = </a:t>
            </a:r>
            <a:r>
              <a:rPr lang="en-SG" dirty="0" err="1"/>
              <a:t>route.params.id</a:t>
            </a:r>
            <a:r>
              <a:rPr lang="en-SG" dirty="0"/>
              <a:t>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E8327-8F71-1A1A-B5D1-22F18FF275B6}"/>
              </a:ext>
            </a:extLst>
          </p:cNvPr>
          <p:cNvSpPr txBox="1"/>
          <p:nvPr/>
        </p:nvSpPr>
        <p:spPr>
          <a:xfrm>
            <a:off x="5207929" y="4689075"/>
            <a:ext cx="3709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Note: this example is from Week 4 Example 10</a:t>
            </a:r>
          </a:p>
        </p:txBody>
      </p:sp>
    </p:spTree>
    <p:extLst>
      <p:ext uri="{BB962C8B-B14F-4D97-AF65-F5344CB8AC3E}">
        <p14:creationId xmlns:p14="http://schemas.microsoft.com/office/powerpoint/2010/main" val="64287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A25077B3-FA16-4C3F-3DBE-5A5B2523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3CE61C40-B6BD-6165-BB3B-ECEDA8AA37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Routing: Redirect (1) (revisit Week4 lecture)</a:t>
            </a:r>
            <a:endParaRPr dirty="0"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0637F8D2-059D-7CED-0DD9-63856181C4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4"/>
            <a:ext cx="4451686" cy="3857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uFill>
                  <a:noFill/>
                </a:uFill>
              </a:rPr>
              <a:t>In routing, we can redirect a given URL to another URL. 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>
              <a:buNone/>
            </a:pPr>
            <a:r>
              <a:rPr lang="en-US" dirty="0">
                <a:uFill>
                  <a:noFill/>
                </a:uFill>
              </a:rPr>
              <a:t>For example,</a:t>
            </a:r>
          </a:p>
          <a:p>
            <a:pPr marL="457200" lvl="1" indent="0">
              <a:buNone/>
            </a:pPr>
            <a:r>
              <a:rPr lang="en-US" sz="1400" dirty="0">
                <a:uFill>
                  <a:noFill/>
                </a:uFill>
              </a:rPr>
              <a:t>{ path: "/", redirect: "/products" }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>
              <a:buNone/>
            </a:pPr>
            <a:r>
              <a:rPr lang="en-US" dirty="0">
                <a:uFill>
                  <a:noFill/>
                </a:uFill>
              </a:rPr>
              <a:t>When the user visits the root URL </a:t>
            </a:r>
            <a:r>
              <a:rPr lang="en-US" dirty="0">
                <a:highlight>
                  <a:srgbClr val="C0C0C0"/>
                </a:highlight>
                <a:uFill>
                  <a:noFill/>
                </a:uFill>
              </a:rPr>
              <a:t>/</a:t>
            </a:r>
            <a:r>
              <a:rPr lang="en-US" dirty="0">
                <a:uFill>
                  <a:noFill/>
                </a:uFill>
              </a:rPr>
              <a:t> (e.g., </a:t>
            </a:r>
            <a:r>
              <a:rPr lang="en-US" dirty="0">
                <a:uFill>
                  <a:noFill/>
                </a:uFill>
                <a:hlinkClick r:id="rId3"/>
              </a:rPr>
              <a:t>http://localhost:5173/</a:t>
            </a:r>
            <a:r>
              <a:rPr lang="en-US" dirty="0">
                <a:uFill>
                  <a:noFill/>
                </a:uFill>
              </a:rPr>
              <a:t>), the router automatically redirects to </a:t>
            </a:r>
            <a:r>
              <a:rPr lang="en-US" dirty="0">
                <a:highlight>
                  <a:srgbClr val="C0C0C0"/>
                </a:highlight>
                <a:uFill>
                  <a:noFill/>
                </a:uFill>
              </a:rPr>
              <a:t>/products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Use case</a:t>
            </a:r>
            <a:r>
              <a:rPr lang="en-SG" dirty="0"/>
              <a:t>: </a:t>
            </a:r>
          </a:p>
          <a:p>
            <a:pPr marL="285750" indent="-285750"/>
            <a:r>
              <a:rPr lang="en-SG" dirty="0"/>
              <a:t>Redirect to a default landing page when the user visits the site</a:t>
            </a:r>
          </a:p>
          <a:p>
            <a:pPr marL="285750" indent="-285750"/>
            <a:r>
              <a:rPr lang="en-SG" dirty="0"/>
              <a:t>Redirect to a login page after user registration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38E3D-83E8-DBF7-A11D-5DF8F8C4BE2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Example</a:t>
            </a:r>
            <a:r>
              <a:rPr lang="en-US" dirty="0"/>
              <a:t> router/</a:t>
            </a:r>
            <a:r>
              <a:rPr lang="en-US" dirty="0" err="1"/>
              <a:t>index.js</a:t>
            </a:r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83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68BF14EF-4A18-58E4-D203-B909DF8A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4EC34589-13B6-5796-F686-EF07AD18AC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Routing: Redirect (2)</a:t>
            </a:r>
            <a:endParaRPr dirty="0"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998B9F0C-482D-B50C-8088-F37324B09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4"/>
            <a:ext cx="4451686" cy="3857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uFill>
                  <a:noFill/>
                </a:uFill>
              </a:rPr>
              <a:t>Redirect can also be implemented programmatically using </a:t>
            </a:r>
            <a:r>
              <a:rPr lang="en-US" i="1" dirty="0" err="1">
                <a:uFill>
                  <a:noFill/>
                </a:uFill>
              </a:rPr>
              <a:t>router.push</a:t>
            </a:r>
            <a:r>
              <a:rPr lang="en-US" i="1" dirty="0">
                <a:uFill>
                  <a:noFill/>
                </a:uFill>
              </a:rPr>
              <a:t>(/</a:t>
            </a:r>
            <a:r>
              <a:rPr lang="en-US" i="1" dirty="0" err="1">
                <a:uFill>
                  <a:noFill/>
                </a:uFill>
              </a:rPr>
              <a:t>new_url</a:t>
            </a:r>
            <a:r>
              <a:rPr lang="en-US" i="1" dirty="0">
                <a:uFill>
                  <a:noFill/>
                </a:uFill>
              </a:rPr>
              <a:t>)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>
              <a:buNone/>
            </a:pPr>
            <a:r>
              <a:rPr lang="en-SG" dirty="0"/>
              <a:t>When </a:t>
            </a:r>
            <a:r>
              <a:rPr lang="en-SG" i="1" dirty="0" err="1"/>
              <a:t>router.push</a:t>
            </a:r>
            <a:r>
              <a:rPr lang="en-SG" dirty="0"/>
              <a:t> executes, Vue Router changes the browser's current address path to /</a:t>
            </a:r>
            <a:r>
              <a:rPr lang="en-SG" dirty="0" err="1"/>
              <a:t>new_url</a:t>
            </a:r>
            <a:r>
              <a:rPr lang="en-SG" dirty="0"/>
              <a:t> and loads the component mapped to that route.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A9478-889D-21BC-1745-05DEA9729E3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Example</a:t>
            </a:r>
            <a:r>
              <a:rPr lang="en-US" dirty="0"/>
              <a:t> components/</a:t>
            </a:r>
            <a:r>
              <a:rPr lang="en-US" dirty="0" err="1"/>
              <a:t>NavBar.vue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import { </a:t>
            </a:r>
            <a:r>
              <a:rPr lang="en-US" dirty="0" err="1"/>
              <a:t>useRouter</a:t>
            </a:r>
            <a:r>
              <a:rPr lang="en-US" dirty="0"/>
              <a:t> } from "</a:t>
            </a:r>
            <a:r>
              <a:rPr lang="en-US" dirty="0" err="1"/>
              <a:t>vue</a:t>
            </a:r>
            <a:r>
              <a:rPr lang="en-US" dirty="0"/>
              <a:t>-router"</a:t>
            </a:r>
          </a:p>
          <a:p>
            <a:pPr marL="139700" indent="0">
              <a:buNone/>
            </a:pPr>
            <a:r>
              <a:rPr lang="en-US" dirty="0"/>
              <a:t>const router = </a:t>
            </a:r>
            <a:r>
              <a:rPr lang="en-US" dirty="0" err="1"/>
              <a:t>useRouter</a:t>
            </a:r>
            <a:r>
              <a:rPr lang="en-US" dirty="0"/>
              <a:t>()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function logout() {</a:t>
            </a:r>
          </a:p>
          <a:p>
            <a:pPr marL="139700" indent="0">
              <a:buNone/>
            </a:pPr>
            <a:r>
              <a:rPr lang="en-US" dirty="0"/>
              <a:t>   </a:t>
            </a:r>
            <a:r>
              <a:rPr lang="en-US" dirty="0" err="1"/>
              <a:t>auth.logout</a:t>
            </a:r>
            <a:r>
              <a:rPr lang="en-US" dirty="0"/>
              <a:t>();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   </a:t>
            </a:r>
            <a:r>
              <a:rPr lang="en-US" dirty="0" err="1"/>
              <a:t>router.push</a:t>
            </a:r>
            <a:r>
              <a:rPr lang="en-US" dirty="0"/>
              <a:t>("/products");</a:t>
            </a:r>
          </a:p>
          <a:p>
            <a:pPr marL="139700" indent="0">
              <a:buNone/>
            </a:pPr>
            <a:r>
              <a:rPr lang="en-US" dirty="0"/>
              <a:t>}</a:t>
            </a:r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2" name="Google Shape;219;p35">
            <a:extLst>
              <a:ext uri="{FF2B5EF4-FFF2-40B4-BE49-F238E27FC236}">
                <a16:creationId xmlns:a16="http://schemas.microsoft.com/office/drawing/2014/main" id="{9BFA6F56-4420-376B-56C1-E75E6DB5F6B5}"/>
              </a:ext>
            </a:extLst>
          </p:cNvPr>
          <p:cNvSpPr/>
          <p:nvPr/>
        </p:nvSpPr>
        <p:spPr>
          <a:xfrm>
            <a:off x="1356954" y="3918276"/>
            <a:ext cx="2361178" cy="660949"/>
          </a:xfrm>
          <a:prstGeom prst="wedgeRoundRectCallout">
            <a:avLst>
              <a:gd name="adj1" fmla="val 107840"/>
              <a:gd name="adj2" fmla="val -127463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After log out, redirect to /products</a:t>
            </a:r>
          </a:p>
        </p:txBody>
      </p:sp>
    </p:spTree>
    <p:extLst>
      <p:ext uri="{BB962C8B-B14F-4D97-AF65-F5344CB8AC3E}">
        <p14:creationId xmlns:p14="http://schemas.microsoft.com/office/powerpoint/2010/main" val="1267338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E375ACEE-6345-7522-9CF8-DA4ACC82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9A446AA5-AE31-3BA6-B740-34530CD308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Routing: Navigation Guard (1)</a:t>
            </a:r>
            <a:endParaRPr dirty="0"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386C4001-E8D6-BE77-A75F-D2FBD0DE62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4"/>
            <a:ext cx="4451686" cy="3857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dirty="0"/>
              <a:t>Navigation guard is code that runs before or during navigation to decide whether a route should:</a:t>
            </a:r>
          </a:p>
          <a:p>
            <a:pPr marL="285750" indent="-285750"/>
            <a:r>
              <a:rPr lang="en-SG" dirty="0"/>
              <a:t>Proceed (allow navigation)</a:t>
            </a:r>
          </a:p>
          <a:p>
            <a:pPr marL="285750" indent="-285750"/>
            <a:r>
              <a:rPr lang="en-SG" dirty="0"/>
              <a:t>Be blocked</a:t>
            </a:r>
          </a:p>
          <a:p>
            <a:pPr marL="285750" indent="-285750"/>
            <a:r>
              <a:rPr lang="en-SG" dirty="0"/>
              <a:t>Redirect to a different route</a:t>
            </a:r>
          </a:p>
          <a:p>
            <a:pPr marL="0" lvl="0" indent="0">
              <a:buNone/>
            </a:pPr>
            <a:endParaRPr lang="en-SG" dirty="0"/>
          </a:p>
          <a:p>
            <a:pPr marL="0" lvl="0" indent="0">
              <a:buNone/>
            </a:pPr>
            <a:r>
              <a:rPr lang="en-US" dirty="0">
                <a:uFill>
                  <a:noFill/>
                </a:uFill>
              </a:rPr>
              <a:t>In SPAs, navigation guards are the main tool for controlling navigation based on conditions such as authentication, permissions, or unsaved changes.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>
              <a:buNone/>
            </a:pPr>
            <a:r>
              <a:rPr lang="en-US" dirty="0">
                <a:uFill>
                  <a:noFill/>
                </a:uFill>
              </a:rPr>
              <a:t>It can help us enforce rules like:</a:t>
            </a:r>
          </a:p>
          <a:p>
            <a:pPr marL="285750" indent="-285750"/>
            <a:r>
              <a:rPr lang="en-US" dirty="0">
                <a:uFill>
                  <a:noFill/>
                </a:uFill>
              </a:rPr>
              <a:t>“only logged-in users can open /cart”</a:t>
            </a:r>
          </a:p>
          <a:p>
            <a:pPr marL="285750" indent="-285750"/>
            <a:r>
              <a:rPr lang="en-US" dirty="0">
                <a:uFill>
                  <a:noFill/>
                </a:uFill>
              </a:rPr>
              <a:t>“only admins can open /admin”</a:t>
            </a:r>
          </a:p>
          <a:p>
            <a:pPr marL="285750" indent="-285750"/>
            <a:r>
              <a:rPr lang="en-US" dirty="0">
                <a:uFill>
                  <a:noFill/>
                </a:uFill>
              </a:rPr>
              <a:t>“if a form has unsaved changes, confirm before leaving”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A9CEF-262D-F286-BA4D-1B0DA4F355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225225"/>
            <a:ext cx="3999900" cy="3602350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They improve:</a:t>
            </a:r>
          </a:p>
          <a:p>
            <a:r>
              <a:rPr lang="en-SG" b="1" dirty="0"/>
              <a:t>Security</a:t>
            </a:r>
            <a:r>
              <a:rPr lang="en-SG" dirty="0"/>
              <a:t> (client-side access control for UI/UX; backend must still enforce real security)</a:t>
            </a:r>
          </a:p>
          <a:p>
            <a:r>
              <a:rPr lang="en-SG" b="1" dirty="0"/>
              <a:t>User experience</a:t>
            </a:r>
            <a:r>
              <a:rPr lang="en-SG" dirty="0"/>
              <a:t> (redirect to login, show error pages, prevent data loss)</a:t>
            </a:r>
          </a:p>
          <a:p>
            <a:r>
              <a:rPr lang="en-SG" b="1" dirty="0"/>
              <a:t>App correctness</a:t>
            </a:r>
            <a:r>
              <a:rPr lang="en-SG" dirty="0"/>
              <a:t> (ensure required data exists before a page renders)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>
              <a:buNone/>
            </a:pPr>
            <a:r>
              <a:rPr lang="en-US" b="1" dirty="0">
                <a:uFill>
                  <a:noFill/>
                </a:uFill>
              </a:rPr>
              <a:t>Commonly used guards:</a:t>
            </a:r>
          </a:p>
          <a:p>
            <a:r>
              <a:rPr lang="en-SG" dirty="0" err="1"/>
              <a:t>router.beforeEach</a:t>
            </a:r>
            <a:r>
              <a:rPr lang="en-SG" dirty="0"/>
              <a:t>() — runs before every navigation (most used)</a:t>
            </a:r>
          </a:p>
          <a:p>
            <a:r>
              <a:rPr lang="en-SG" dirty="0" err="1"/>
              <a:t>router.afterEach</a:t>
            </a:r>
            <a:r>
              <a:rPr lang="en-SG" dirty="0"/>
              <a:t>() — runs after navigation (analytics, logging)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E4B415-B0DA-893C-2EC9-A56DCA3555A9}"/>
              </a:ext>
            </a:extLst>
          </p:cNvPr>
          <p:cNvSpPr txBox="1"/>
          <p:nvPr/>
        </p:nvSpPr>
        <p:spPr>
          <a:xfrm>
            <a:off x="5387009" y="4751686"/>
            <a:ext cx="2626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For more details: Go there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54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0B6B7A94-5A16-C735-A171-862B7862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0ACDF165-8B3A-5E6C-22FA-E31CF2F981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Routing: Navigation Guard (2)</a:t>
            </a:r>
            <a:endParaRPr dirty="0"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04FEF16-D15E-F5AC-423E-98D984D4A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4"/>
            <a:ext cx="4520700" cy="3857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SG" b="1" dirty="0"/>
              <a:t>Best practices for using route guards</a:t>
            </a:r>
          </a:p>
          <a:p>
            <a:pPr marL="139700" indent="0">
              <a:buNone/>
            </a:pPr>
            <a:endParaRPr lang="en-SG" b="1" dirty="0"/>
          </a:p>
          <a:p>
            <a:pPr marL="139700" indent="0">
              <a:buNone/>
            </a:pPr>
            <a:r>
              <a:rPr lang="en-SG" dirty="0"/>
              <a:t>Use meta flags (</a:t>
            </a:r>
            <a:r>
              <a:rPr lang="en-SG" dirty="0" err="1"/>
              <a:t>requiresAuth</a:t>
            </a:r>
            <a:r>
              <a:rPr lang="en-SG" dirty="0"/>
              <a:t>, role, etc.) so one guard can protect multiple routes.</a:t>
            </a:r>
          </a:p>
          <a:p>
            <a:endParaRPr lang="en-SG" dirty="0"/>
          </a:p>
          <a:p>
            <a:pPr marL="139700" indent="0">
              <a:buNone/>
            </a:pPr>
            <a:r>
              <a:rPr lang="en-SG" dirty="0"/>
              <a:t>Keep guard logic small; delegate logic to stores, e.g., </a:t>
            </a:r>
            <a:r>
              <a:rPr lang="en-SG" dirty="0" err="1"/>
              <a:t>auth.isLoggedIn</a:t>
            </a:r>
            <a:r>
              <a:rPr lang="en-SG" dirty="0"/>
              <a:t>, </a:t>
            </a:r>
            <a:r>
              <a:rPr lang="en-SG" dirty="0" err="1"/>
              <a:t>auth.hasRole</a:t>
            </a:r>
            <a:r>
              <a:rPr lang="en-SG" dirty="0"/>
              <a:t>(...)</a:t>
            </a:r>
          </a:p>
          <a:p>
            <a:endParaRPr lang="en-SG" dirty="0"/>
          </a:p>
          <a:p>
            <a:pPr marL="139700" indent="0">
              <a:buNone/>
            </a:pPr>
            <a:r>
              <a:rPr lang="en-SG" dirty="0"/>
              <a:t>Use the “redirect back after login” pattern:</a:t>
            </a:r>
          </a:p>
          <a:p>
            <a:r>
              <a:rPr lang="en-SG" dirty="0"/>
              <a:t>redirect to /</a:t>
            </a:r>
            <a:r>
              <a:rPr lang="en-SG" dirty="0" err="1"/>
              <a:t>login?redirect</a:t>
            </a:r>
            <a:r>
              <a:rPr lang="en-SG" dirty="0"/>
              <a:t>=/cart</a:t>
            </a:r>
          </a:p>
          <a:p>
            <a:r>
              <a:rPr lang="en-SG" dirty="0"/>
              <a:t>after login → send user to that route.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30210-35A9-7E95-BFF4-A210614CD64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225225"/>
            <a:ext cx="3999900" cy="360235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Guards are not “real security”. They are run in the browser, which are in full control of the client (who can be malicious).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  <a:p>
            <a:pPr marL="0" lvl="0" indent="0">
              <a:buNone/>
            </a:pPr>
            <a:r>
              <a:rPr lang="en-US" dirty="0">
                <a:uFill>
                  <a:noFill/>
                </a:uFill>
              </a:rPr>
              <a:t>So they only serve navigation control and UX enforcement. They do not replace backend security, i.e., your Express API must still verify tokens/credentials/permissions at the server side.</a:t>
            </a:r>
          </a:p>
        </p:txBody>
      </p:sp>
    </p:spTree>
    <p:extLst>
      <p:ext uri="{BB962C8B-B14F-4D97-AF65-F5344CB8AC3E}">
        <p14:creationId xmlns:p14="http://schemas.microsoft.com/office/powerpoint/2010/main" val="3407987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62D3066D-81CB-0B24-D66D-13DA097C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5E84C3C0-581B-C22C-5A89-8502B8CB57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Routing: Navigation Guard (3)</a:t>
            </a:r>
            <a:endParaRPr dirty="0"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9761F81E-67CE-7F30-1936-76C0AB776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4"/>
            <a:ext cx="4451686" cy="3857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b="1" dirty="0"/>
              <a:t>Example</a:t>
            </a:r>
            <a:r>
              <a:rPr lang="en-US" dirty="0"/>
              <a:t> router/</a:t>
            </a:r>
            <a:r>
              <a:rPr lang="en-US" dirty="0" err="1"/>
              <a:t>index.js</a:t>
            </a: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r>
              <a:rPr lang="en-SG" dirty="0"/>
              <a:t>The navigation guard code in </a:t>
            </a:r>
            <a:r>
              <a:rPr lang="en-SG" i="1" dirty="0" err="1"/>
              <a:t>index.js</a:t>
            </a:r>
            <a:r>
              <a:rPr lang="en-SG" i="1" dirty="0"/>
              <a:t> </a:t>
            </a:r>
            <a:r>
              <a:rPr lang="en-SG" dirty="0"/>
              <a:t>check if the route requires auth. If not, allow the navigation; else check auth store if user is logged in. If yes, allow the navigation; else redirect to /login route.</a:t>
            </a:r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139700" indent="0">
              <a:buNone/>
            </a:pPr>
            <a:r>
              <a:rPr lang="en-SG" b="1" dirty="0"/>
              <a:t>to</a:t>
            </a:r>
            <a:r>
              <a:rPr lang="en-SG" dirty="0"/>
              <a:t> is the route the user is trying to navigate to. It contains information such as:</a:t>
            </a:r>
          </a:p>
          <a:p>
            <a:pPr marL="438150" indent="-285750"/>
            <a:r>
              <a:rPr lang="en-SG" b="1" dirty="0" err="1"/>
              <a:t>to.path</a:t>
            </a:r>
            <a:r>
              <a:rPr lang="en-SG" dirty="0"/>
              <a:t> (e.g., </a:t>
            </a:r>
            <a:r>
              <a:rPr lang="en-SG" b="1" dirty="0"/>
              <a:t>"/cart"</a:t>
            </a:r>
            <a:r>
              <a:rPr lang="en-SG" dirty="0"/>
              <a:t>)</a:t>
            </a:r>
          </a:p>
          <a:p>
            <a:pPr marL="438150" indent="-285750"/>
            <a:r>
              <a:rPr lang="en-SG" b="1" dirty="0" err="1"/>
              <a:t>to.params</a:t>
            </a:r>
            <a:r>
              <a:rPr lang="en-SG" dirty="0"/>
              <a:t> (route parameters like </a:t>
            </a:r>
            <a:r>
              <a:rPr lang="en-SG" b="1" dirty="0"/>
              <a:t>:id</a:t>
            </a:r>
            <a:r>
              <a:rPr lang="en-SG" dirty="0"/>
              <a:t>)</a:t>
            </a:r>
          </a:p>
          <a:p>
            <a:pPr marL="438150" indent="-285750"/>
            <a:r>
              <a:rPr lang="en-SG" b="1" dirty="0" err="1"/>
              <a:t>to.fullPath</a:t>
            </a:r>
            <a:r>
              <a:rPr lang="en-SG" dirty="0"/>
              <a:t> (e.g., </a:t>
            </a:r>
            <a:r>
              <a:rPr lang="en-SG" b="1" dirty="0"/>
              <a:t>"/</a:t>
            </a:r>
            <a:r>
              <a:rPr lang="en-SG" b="1" dirty="0" err="1"/>
              <a:t>cart?sort</a:t>
            </a:r>
            <a:r>
              <a:rPr lang="en-SG" b="1" dirty="0"/>
              <a:t>=</a:t>
            </a:r>
            <a:r>
              <a:rPr lang="en-SG" b="1" dirty="0" err="1"/>
              <a:t>asc</a:t>
            </a:r>
            <a:r>
              <a:rPr lang="en-SG" b="1" dirty="0"/>
              <a:t>"</a:t>
            </a:r>
            <a:r>
              <a:rPr lang="en-SG" dirty="0"/>
              <a:t>)</a:t>
            </a:r>
          </a:p>
          <a:p>
            <a:pPr marL="438150" indent="-285750"/>
            <a:r>
              <a:rPr lang="en-SG" b="1" dirty="0" err="1"/>
              <a:t>to.meta</a:t>
            </a:r>
            <a:r>
              <a:rPr lang="en-SG" dirty="0"/>
              <a:t> (custom metadata you attach in route definitions)</a:t>
            </a:r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E76F4-D179-6A04-D59E-DD049812CE6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399" y="1225225"/>
            <a:ext cx="4215348" cy="3602350"/>
          </a:xfrm>
        </p:spPr>
        <p:txBody>
          <a:bodyPr/>
          <a:lstStyle/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SG" sz="1200" dirty="0"/>
              <a:t>{ path: "/cart", component: </a:t>
            </a:r>
            <a:r>
              <a:rPr lang="en-SG" sz="1200" dirty="0" err="1"/>
              <a:t>CartView</a:t>
            </a:r>
            <a:r>
              <a:rPr lang="en-SG" sz="1200" dirty="0"/>
              <a:t>, meta: { </a:t>
            </a:r>
            <a:r>
              <a:rPr lang="en-SG" sz="1200" dirty="0" err="1"/>
              <a:t>requiresAuth</a:t>
            </a:r>
            <a:r>
              <a:rPr lang="en-SG" sz="1200" dirty="0"/>
              <a:t>: true } }</a:t>
            </a:r>
          </a:p>
          <a:p>
            <a:pPr marL="139700" indent="0">
              <a:buNone/>
            </a:pP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// Navigation guard (auth)</a:t>
            </a:r>
          </a:p>
          <a:p>
            <a:pPr marL="139700" indent="0">
              <a:buNone/>
            </a:pPr>
            <a:r>
              <a:rPr lang="en-US" sz="1200" dirty="0" err="1"/>
              <a:t>router.beforeEach</a:t>
            </a:r>
            <a:r>
              <a:rPr lang="en-US" sz="1200" dirty="0"/>
              <a:t>((to) =&gt; {</a:t>
            </a:r>
          </a:p>
          <a:p>
            <a:pPr marL="139700" indent="0">
              <a:buNone/>
            </a:pPr>
            <a:r>
              <a:rPr lang="en-US" sz="1200" dirty="0"/>
              <a:t>   if (!</a:t>
            </a:r>
            <a:r>
              <a:rPr lang="en-US" sz="1200" dirty="0" err="1"/>
              <a:t>to.meta.requiresAuth</a:t>
            </a:r>
            <a:r>
              <a:rPr lang="en-US" sz="1200" dirty="0"/>
              <a:t>) return true</a:t>
            </a:r>
          </a:p>
          <a:p>
            <a:pPr marL="139700" indent="0">
              <a:buNone/>
            </a:pP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   const auth = </a:t>
            </a:r>
            <a:r>
              <a:rPr lang="en-US" sz="1200" dirty="0" err="1"/>
              <a:t>useAuthStore</a:t>
            </a:r>
            <a:r>
              <a:rPr lang="en-US" sz="1200" dirty="0"/>
              <a:t>();</a:t>
            </a:r>
          </a:p>
          <a:p>
            <a:pPr marL="139700" indent="0">
              <a:buNone/>
            </a:pPr>
            <a:r>
              <a:rPr lang="en-US" sz="1200" dirty="0"/>
              <a:t>   if (</a:t>
            </a:r>
            <a:r>
              <a:rPr lang="en-US" sz="1200" dirty="0" err="1"/>
              <a:t>auth.isLoggedIn</a:t>
            </a:r>
            <a:r>
              <a:rPr lang="en-US" sz="1200" dirty="0"/>
              <a:t>) return true</a:t>
            </a:r>
          </a:p>
          <a:p>
            <a:pPr marL="139700" indent="0">
              <a:buNone/>
            </a:pPr>
            <a:endParaRPr lang="en-US" sz="1200" dirty="0"/>
          </a:p>
          <a:p>
            <a:pPr marL="139700" indent="0">
              <a:buNone/>
            </a:pPr>
            <a:r>
              <a:rPr lang="en-US" sz="1200" dirty="0"/>
              <a:t>   return { path: "/login", query: { redirect: </a:t>
            </a:r>
            <a:r>
              <a:rPr lang="en-US" sz="1200" dirty="0" err="1"/>
              <a:t>to.fullPath</a:t>
            </a:r>
            <a:r>
              <a:rPr lang="en-US" sz="1200" dirty="0"/>
              <a:t> } }</a:t>
            </a:r>
          </a:p>
          <a:p>
            <a:pPr marL="139700" indent="0">
              <a:buNone/>
            </a:pPr>
            <a:r>
              <a:rPr lang="en-US" sz="1200" dirty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4287149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BA09D196-F022-8BAE-389B-93D4F223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D11D9CE7-B0CA-F66F-6E1C-0407F29E80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G" sz="4400" dirty="0"/>
              <a:t>Demo</a:t>
            </a:r>
            <a:r>
              <a:rPr lang="en-SG" sz="4400" dirty="0">
                <a:sym typeface="Wingdings" pitchFamily="2" charset="2"/>
              </a:rPr>
              <a:t> (1)</a:t>
            </a:r>
            <a:endParaRPr lang="en-SG" sz="4400" dirty="0"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54F368EA-050A-9E27-A841-104E18F425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1700" y="1337725"/>
            <a:ext cx="3898793" cy="3264408"/>
          </a:xfrm>
        </p:spPr>
        <p:txBody>
          <a:bodyPr spcFirstLastPara="1" lIns="91425" tIns="91425" rIns="91425" bIns="91425" anchor="t" anchorCtr="0">
            <a:normAutofit fontScale="92500"/>
          </a:bodyPr>
          <a:lstStyle/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None/>
            </a:pPr>
            <a:r>
              <a:rPr lang="en-US" sz="1400" b="0" i="0" u="none" strike="noStrike" cap="none" dirty="0"/>
              <a:t>Visit the </a:t>
            </a:r>
            <a:r>
              <a:rPr lang="en-US" sz="1400" b="0" i="0" u="none" strike="noStrike" cap="none" dirty="0" err="1"/>
              <a:t>MiniShop</a:t>
            </a:r>
            <a:r>
              <a:rPr lang="en-US" sz="1400" b="0" i="0" u="none" strike="noStrike" cap="none" dirty="0"/>
              <a:t> </a:t>
            </a:r>
            <a:r>
              <a:rPr lang="en-US" sz="1400" dirty="0"/>
              <a:t>website, e.g., http://localhost:5173/</a:t>
            </a:r>
          </a:p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dirty="0"/>
          </a:p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400" b="0" i="0" u="none" strike="noStrike" cap="none" dirty="0"/>
              <a:t>It will redirect to </a:t>
            </a:r>
            <a:r>
              <a:rPr lang="en-US" sz="1400" b="0" i="0" u="none" strike="noStrike" cap="none" dirty="0">
                <a:highlight>
                  <a:srgbClr val="C0C0C0"/>
                </a:highlight>
              </a:rPr>
              <a:t>/products</a:t>
            </a:r>
            <a:r>
              <a:rPr lang="en-US" sz="1400" b="0" i="0" u="none" strike="noStrike" cap="none" dirty="0"/>
              <a:t>, which launches </a:t>
            </a:r>
            <a:r>
              <a:rPr lang="en-US" sz="1400" b="0" i="0" u="none" strike="noStrike" cap="none" dirty="0" err="1">
                <a:highlight>
                  <a:srgbClr val="C0C0C0"/>
                </a:highlight>
              </a:rPr>
              <a:t>ProductsView</a:t>
            </a:r>
            <a:r>
              <a:rPr lang="en-US" sz="1400" b="0" i="0" u="none" strike="noStrike" cap="none" dirty="0"/>
              <a:t> component (see router/</a:t>
            </a:r>
            <a:r>
              <a:rPr lang="en-US" sz="1400" b="0" i="0" u="none" strike="noStrike" cap="none" dirty="0" err="1"/>
              <a:t>index.js</a:t>
            </a:r>
            <a:r>
              <a:rPr lang="en-US" sz="1400" b="0" i="0" u="none" strike="noStrike" cap="none" dirty="0"/>
              <a:t>)</a:t>
            </a:r>
          </a:p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dirty="0"/>
          </a:p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dirty="0"/>
          </a:p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400" b="0" i="0" u="none" strike="noStrike" cap="none" dirty="0"/>
              <a:t>You will see the list of products, as </a:t>
            </a:r>
            <a:r>
              <a:rPr lang="en-US" sz="1400" b="0" i="0" u="none" strike="noStrike" cap="none" dirty="0" err="1">
                <a:highlight>
                  <a:srgbClr val="C0C0C0"/>
                </a:highlight>
              </a:rPr>
              <a:t>ProductsView</a:t>
            </a:r>
            <a:r>
              <a:rPr lang="en-US" sz="1400" b="0" i="0" u="none" strike="noStrike" cap="none" dirty="0"/>
              <a:t> retrieves the list of products via </a:t>
            </a:r>
            <a:r>
              <a:rPr lang="en-US" sz="1400" b="0" i="0" u="none" strike="noStrike" cap="none" dirty="0" err="1">
                <a:highlight>
                  <a:srgbClr val="C0C0C0"/>
                </a:highlight>
              </a:rPr>
              <a:t>productsStore</a:t>
            </a:r>
            <a:r>
              <a:rPr lang="en-US" sz="1400" b="0" i="0" u="none" strike="noStrike" cap="none" dirty="0"/>
              <a:t> and renders it.</a:t>
            </a:r>
          </a:p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200" dirty="0"/>
          </a:p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200" b="0" i="0" u="none" strike="noStrike" cap="none" dirty="0"/>
              <a:t> </a:t>
            </a:r>
          </a:p>
          <a:p>
            <a:pPr marL="0" lvl="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dirty="0">
              <a:uFill>
                <a:noFill/>
              </a:uFill>
            </a:endParaRPr>
          </a:p>
        </p:txBody>
      </p:sp>
      <p:pic>
        <p:nvPicPr>
          <p:cNvPr id="7" name="Picture 6" descr="A screenshot of a shopping list&#10;&#10;AI-generated content may be incorrect.">
            <a:extLst>
              <a:ext uri="{FF2B5EF4-FFF2-40B4-BE49-F238E27FC236}">
                <a16:creationId xmlns:a16="http://schemas.microsoft.com/office/drawing/2014/main" id="{C67353FC-EC29-924C-C87A-2045C8E36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839" y="2037861"/>
            <a:ext cx="4843687" cy="131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2FD3A4B5-C8B4-7D5F-4CC3-EC628F14A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603F5674-6D98-4BE8-8291-34B8EF9D44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G" sz="4400" dirty="0"/>
              <a:t>Demo (2)</a:t>
            </a:r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938945D5-E96E-F333-9235-94C3EBE0E68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1700" y="1337725"/>
            <a:ext cx="3898793" cy="3264408"/>
          </a:xfrm>
        </p:spPr>
        <p:txBody>
          <a:bodyPr spcFirstLastPara="1" lIns="91425" tIns="91425" rIns="91425" bIns="91425" anchor="t" anchorCtr="0">
            <a:normAutofit fontScale="92500"/>
          </a:bodyPr>
          <a:lstStyle/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200" b="0" i="0" u="none" strike="noStrike" cap="none" dirty="0"/>
              <a:t> </a:t>
            </a:r>
            <a:r>
              <a:rPr lang="en-US" sz="1400" b="0" i="0" u="none" strike="noStrike" cap="none" dirty="0"/>
              <a:t>Add some  products into the cart by clicking “Add to Cart” button of the products.</a:t>
            </a:r>
          </a:p>
          <a:p>
            <a:pPr marL="596900" lvl="1" indent="0">
              <a:lnSpc>
                <a:spcPct val="105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/>
              <a:t>This action essentially updates the </a:t>
            </a:r>
            <a:r>
              <a:rPr lang="en-US" dirty="0" err="1">
                <a:highlight>
                  <a:srgbClr val="C0C0C0"/>
                </a:highlight>
              </a:rPr>
              <a:t>cartStore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/>
              <a:t>(</a:t>
            </a:r>
            <a:r>
              <a:rPr lang="en-US" dirty="0">
                <a:highlight>
                  <a:srgbClr val="C0C0C0"/>
                </a:highlight>
              </a:rPr>
              <a:t>stores/</a:t>
            </a:r>
            <a:r>
              <a:rPr lang="en-US" dirty="0" err="1">
                <a:highlight>
                  <a:srgbClr val="C0C0C0"/>
                </a:highlight>
              </a:rPr>
              <a:t>cart.js</a:t>
            </a:r>
            <a:r>
              <a:rPr lang="en-US" dirty="0"/>
              <a:t>). </a:t>
            </a:r>
            <a:endParaRPr lang="en-US" b="0" i="0" u="none" strike="noStrike" cap="none" dirty="0"/>
          </a:p>
          <a:p>
            <a:pPr marL="139700" indent="0">
              <a:lnSpc>
                <a:spcPct val="105000"/>
              </a:lnSpc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dirty="0"/>
          </a:p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400" b="0" i="0" u="none" strike="noStrike" cap="none" dirty="0"/>
              <a:t>You will observe that th</a:t>
            </a:r>
            <a:r>
              <a:rPr lang="en-US" sz="1400" dirty="0"/>
              <a:t>e link</a:t>
            </a:r>
            <a:r>
              <a:rPr lang="en-US" sz="1400" b="0" i="0" u="none" strike="noStrike" cap="none" dirty="0"/>
              <a:t> “Cart” in navigation bar gets updated with the new product count, e.g., “Cart (3)”, as you add new products.</a:t>
            </a:r>
          </a:p>
          <a:p>
            <a:pPr marL="596900" lvl="1" indent="0">
              <a:lnSpc>
                <a:spcPct val="105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/>
              <a:t>This is because the navigation bar (</a:t>
            </a:r>
            <a:r>
              <a:rPr lang="en-US" dirty="0">
                <a:highlight>
                  <a:srgbClr val="C0C0C0"/>
                </a:highlight>
              </a:rPr>
              <a:t>components/</a:t>
            </a:r>
            <a:r>
              <a:rPr lang="en-US" dirty="0" err="1">
                <a:highlight>
                  <a:srgbClr val="C0C0C0"/>
                </a:highlight>
              </a:rPr>
              <a:t>NavBar.vue</a:t>
            </a:r>
            <a:r>
              <a:rPr lang="en-US" dirty="0"/>
              <a:t>) gets the cart data from the </a:t>
            </a:r>
            <a:r>
              <a:rPr lang="en-US" dirty="0" err="1">
                <a:highlight>
                  <a:srgbClr val="C0C0C0"/>
                </a:highlight>
              </a:rPr>
              <a:t>cartStore</a:t>
            </a:r>
            <a:r>
              <a:rPr lang="en-US" dirty="0"/>
              <a:t>, which makes it reactive to the changes in the cart store.</a:t>
            </a:r>
            <a:endParaRPr lang="en-US" b="0" i="0" u="none" strike="noStrike" cap="none" dirty="0"/>
          </a:p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dirty="0"/>
          </a:p>
          <a:p>
            <a:pPr marL="0" lvl="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dirty="0">
              <a:uFill>
                <a:noFill/>
              </a:uFill>
            </a:endParaRPr>
          </a:p>
        </p:txBody>
      </p:sp>
      <p:pic>
        <p:nvPicPr>
          <p:cNvPr id="7" name="Picture 6" descr="A screenshot of a shopping list&#10;&#10;AI-generated content may be incorrect.">
            <a:extLst>
              <a:ext uri="{FF2B5EF4-FFF2-40B4-BE49-F238E27FC236}">
                <a16:creationId xmlns:a16="http://schemas.microsoft.com/office/drawing/2014/main" id="{DC87692A-3B7D-8DFF-6479-62D8D6833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635" y="1878376"/>
            <a:ext cx="4843687" cy="131855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3330D80-8796-B234-FF27-D01C623171D3}"/>
              </a:ext>
            </a:extLst>
          </p:cNvPr>
          <p:cNvSpPr/>
          <p:nvPr/>
        </p:nvSpPr>
        <p:spPr>
          <a:xfrm>
            <a:off x="5773484" y="2838894"/>
            <a:ext cx="776177" cy="32614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6FA521-F1E1-FF0F-1F82-B3EAC5606A3A}"/>
              </a:ext>
            </a:extLst>
          </p:cNvPr>
          <p:cNvSpPr/>
          <p:nvPr/>
        </p:nvSpPr>
        <p:spPr>
          <a:xfrm>
            <a:off x="8357195" y="1816194"/>
            <a:ext cx="446567" cy="3422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002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0C3E47B3-C5B7-55D8-00FA-BCF9CEA7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3A6A8A6C-36F2-438E-1466-5D4E142E72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 (3)</a:t>
            </a:r>
            <a:endParaRPr dirty="0"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6AEA647B-749C-1C4C-EEFB-77AC54516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4"/>
            <a:ext cx="3476153" cy="3857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dirty="0"/>
              <a:t>Then click the “Cart (3)” link in the navigation bar.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This action redirects the user to “Login” page, as the user has not logged in (see the navigation guard in router/</a:t>
            </a:r>
            <a:r>
              <a:rPr lang="en-US" dirty="0" err="1"/>
              <a:t>index.js</a:t>
            </a:r>
            <a:r>
              <a:rPr lang="en-US" dirty="0"/>
              <a:t>).</a:t>
            </a:r>
            <a:endParaRPr lang="en-SG" dirty="0"/>
          </a:p>
          <a:p>
            <a:pPr marL="139700" indent="0">
              <a:buNone/>
            </a:pPr>
            <a:endParaRPr lang="en-SG" dirty="0"/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</p:txBody>
      </p:sp>
      <p:pic>
        <p:nvPicPr>
          <p:cNvPr id="6" name="Picture 5" descr="A screenshot of a shopping list&#10;&#10;AI-generated content may be incorrect.">
            <a:extLst>
              <a:ext uri="{FF2B5EF4-FFF2-40B4-BE49-F238E27FC236}">
                <a16:creationId xmlns:a16="http://schemas.microsoft.com/office/drawing/2014/main" id="{0A5E4C4A-6EA1-9754-B63F-47EAC1475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660" y="1573728"/>
            <a:ext cx="4843687" cy="1318559"/>
          </a:xfrm>
          <a:prstGeom prst="rect">
            <a:avLst/>
          </a:prstGeom>
        </p:spPr>
      </p:pic>
      <p:pic>
        <p:nvPicPr>
          <p:cNvPr id="8" name="Picture 7" descr="A whit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B4D03937-52FA-035B-B1D0-731CCB0DE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853" y="3481148"/>
            <a:ext cx="4451686" cy="119752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5C61343-920F-8C43-1909-A5B96BCE9BF4}"/>
              </a:ext>
            </a:extLst>
          </p:cNvPr>
          <p:cNvSpPr/>
          <p:nvPr/>
        </p:nvSpPr>
        <p:spPr>
          <a:xfrm>
            <a:off x="7921258" y="1497212"/>
            <a:ext cx="446567" cy="3422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72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E2086BAC-CF39-D104-3ECE-B6E63C96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>
            <a:extLst>
              <a:ext uri="{FF2B5EF4-FFF2-40B4-BE49-F238E27FC236}">
                <a16:creationId xmlns:a16="http://schemas.microsoft.com/office/drawing/2014/main" id="{04A81192-140A-C79E-EBCC-89C4BAC57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 (4)</a:t>
            </a:r>
            <a:endParaRPr dirty="0"/>
          </a:p>
        </p:txBody>
      </p:sp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46B5A89-95E6-9DE5-1D63-6D710E762A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4"/>
            <a:ext cx="3476153" cy="3857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dirty="0"/>
              <a:t>The Login is a fake functionality with the username “student” and a default password. 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You just click “Login”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You will then see the Cart in which you can either ”Checkout” or “Clear Cart”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You can also edit the quantity or remove the item.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SG" dirty="0"/>
          </a:p>
          <a:p>
            <a:pPr marL="0" lvl="0" indent="0">
              <a:buNone/>
            </a:pPr>
            <a:endParaRPr lang="en-US" dirty="0">
              <a:uFill>
                <a:noFill/>
              </a:uFill>
            </a:endParaRPr>
          </a:p>
        </p:txBody>
      </p:sp>
      <p:pic>
        <p:nvPicPr>
          <p:cNvPr id="8" name="Picture 7" descr="A whit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08B06C45-09EE-1363-FFDE-975BD66D2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139" y="1240665"/>
            <a:ext cx="4451686" cy="1197529"/>
          </a:xfrm>
          <a:prstGeom prst="rect">
            <a:avLst/>
          </a:prstGeom>
        </p:spPr>
      </p:pic>
      <p:pic>
        <p:nvPicPr>
          <p:cNvPr id="3" name="Picture 2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3D32D895-0CA1-4409-6959-D618062FE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853" y="2966360"/>
            <a:ext cx="4658315" cy="124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06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9A8F5ECA-A575-3006-99A9-4CBB282B9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1F281B31-1FB2-D11D-160C-84D2D7E23B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Exercises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830A5A48-964B-0873-99D0-24F613087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784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600" dirty="0"/>
              <a:t>Let’s extend the </a:t>
            </a:r>
            <a:r>
              <a:rPr lang="en-SG" sz="1600" b="1" dirty="0" err="1"/>
              <a:t>MiniShop</a:t>
            </a:r>
            <a:r>
              <a:rPr lang="en-US" sz="1600" dirty="0"/>
              <a:t> app in our running example with the following features:</a:t>
            </a:r>
          </a:p>
          <a:p>
            <a:pPr marL="0" lvl="0" indent="0">
              <a:buNone/>
            </a:pPr>
            <a:endParaRPr lang="en-US" sz="1600" dirty="0"/>
          </a:p>
          <a:p>
            <a:pPr marL="342900" lvl="0">
              <a:buFont typeface="+mj-lt"/>
              <a:buAutoNum type="arabicPeriod"/>
            </a:pPr>
            <a:r>
              <a:rPr lang="en-SG" sz="1600" dirty="0"/>
              <a:t>When the user refreshes the page, the </a:t>
            </a:r>
            <a:r>
              <a:rPr lang="en-SG" sz="1600" b="1" dirty="0"/>
              <a:t>cart should remain</a:t>
            </a:r>
            <a:r>
              <a:rPr lang="en-SG" sz="1600" dirty="0"/>
              <a:t> (items and quantities should not reset).</a:t>
            </a:r>
            <a:endParaRPr lang="en-US" sz="1600" dirty="0"/>
          </a:p>
          <a:p>
            <a:pPr marL="342900" lvl="0">
              <a:buFont typeface="+mj-lt"/>
              <a:buAutoNum type="arabicPeriod"/>
            </a:pPr>
            <a:r>
              <a:rPr lang="en-SG" sz="1600" dirty="0"/>
              <a:t>Add a new route: </a:t>
            </a:r>
            <a:r>
              <a:rPr lang="en-SG" sz="1600" b="1" dirty="0"/>
              <a:t>/products/:id</a:t>
            </a:r>
            <a:r>
              <a:rPr lang="en-SG" sz="1600" dirty="0"/>
              <a:t> that shows </a:t>
            </a:r>
            <a:r>
              <a:rPr lang="en-SG" sz="1600" b="1" dirty="0"/>
              <a:t>one product’s details</a:t>
            </a:r>
            <a:r>
              <a:rPr lang="en-SG" sz="1600" dirty="0"/>
              <a:t>.</a:t>
            </a:r>
          </a:p>
          <a:p>
            <a:pPr marL="342900" lvl="0">
              <a:buFont typeface="+mj-lt"/>
              <a:buAutoNum type="arabicPeriod"/>
            </a:pPr>
            <a:r>
              <a:rPr lang="en-SG" sz="1600" dirty="0"/>
              <a:t>If the user refreshes, they should stay logged in (token and username persist).</a:t>
            </a:r>
            <a:endParaRPr lang="en-US" sz="1600" dirty="0"/>
          </a:p>
          <a:p>
            <a:pPr marL="342900">
              <a:buFont typeface="+mj-lt"/>
              <a:buAutoNum type="arabicPeriod"/>
            </a:pPr>
            <a:r>
              <a:rPr lang="en-SG" sz="1600" dirty="0"/>
              <a:t>After checkout, create an order and allow the user to view past orders at </a:t>
            </a:r>
            <a:r>
              <a:rPr lang="en-SG" sz="1600" b="1" dirty="0"/>
              <a:t>/orders</a:t>
            </a:r>
            <a:r>
              <a:rPr lang="en-SG" sz="1600" dirty="0"/>
              <a:t> (protected to only authenticated users).</a:t>
            </a:r>
          </a:p>
          <a:p>
            <a:pPr marL="342900" lvl="0">
              <a:buFont typeface="+mj-lt"/>
              <a:buAutoNum type="arabicPeriod"/>
            </a:pPr>
            <a:endParaRPr lang="en-SG" sz="1600" dirty="0"/>
          </a:p>
          <a:p>
            <a:pPr marL="0" lvl="0" indent="0">
              <a:buNone/>
            </a:pPr>
            <a:r>
              <a:rPr lang="en-SG" sz="1600" dirty="0"/>
              <a:t>These exercises will help you practice shared state across routes, route params, using the same store in multiple views, and authentication state management.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944674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5AA758BB-7C34-873F-6307-216B2650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D8957DF5-CD59-CE68-43EE-00825BA73A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Exercise 1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E4D284E6-B437-772B-07CF-88B4F53B3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784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sz="1400" dirty="0"/>
              <a:t>When the user refreshes the page, the </a:t>
            </a:r>
            <a:r>
              <a:rPr lang="en-SG" sz="1400" b="1" dirty="0"/>
              <a:t>cart should remain</a:t>
            </a:r>
            <a:r>
              <a:rPr lang="en-SG" sz="1400" dirty="0"/>
              <a:t> (items and quantities should not reset).</a:t>
            </a:r>
          </a:p>
          <a:p>
            <a:pPr marL="0" lvl="0" indent="0">
              <a:buNone/>
            </a:pPr>
            <a:endParaRPr lang="en-SG" sz="1400" dirty="0"/>
          </a:p>
          <a:p>
            <a:pPr marL="0" indent="0">
              <a:buNone/>
            </a:pPr>
            <a:r>
              <a:rPr lang="en-US" sz="1400" b="1" u="sng" dirty="0"/>
              <a:t>Part A:</a:t>
            </a:r>
          </a:p>
          <a:p>
            <a:pPr marL="0" indent="0">
              <a:buNone/>
            </a:pPr>
            <a:r>
              <a:rPr lang="en-US" sz="1400" dirty="0"/>
              <a:t>In </a:t>
            </a:r>
            <a:r>
              <a:rPr lang="en-US" sz="1400" b="1" dirty="0"/>
              <a:t>stores/</a:t>
            </a:r>
            <a:r>
              <a:rPr lang="en-US" sz="1400" b="1" dirty="0" err="1"/>
              <a:t>cart.js</a:t>
            </a:r>
            <a:r>
              <a:rPr lang="en-US" sz="1400" dirty="0"/>
              <a:t>, load initial cart from </a:t>
            </a:r>
            <a:r>
              <a:rPr lang="en-US" sz="1400" dirty="0" err="1"/>
              <a:t>localStorage</a:t>
            </a:r>
            <a:r>
              <a:rPr lang="en-US" sz="1400" dirty="0"/>
              <a:t> </a:t>
            </a:r>
          </a:p>
          <a:p>
            <a:pPr marL="742950" lvl="1" indent="-285750">
              <a:spcBef>
                <a:spcPts val="0"/>
              </a:spcBef>
            </a:pPr>
            <a:r>
              <a:rPr lang="en-US" dirty="0"/>
              <a:t>In cart store, when the store is created, initialize </a:t>
            </a:r>
            <a:r>
              <a:rPr lang="en-US" dirty="0">
                <a:highlight>
                  <a:srgbClr val="C0C0C0"/>
                </a:highlight>
              </a:rPr>
              <a:t>items</a:t>
            </a:r>
            <a:r>
              <a:rPr lang="en-US" dirty="0"/>
              <a:t> using data from </a:t>
            </a:r>
            <a:r>
              <a:rPr lang="en-US" dirty="0" err="1"/>
              <a:t>localStorage</a:t>
            </a:r>
            <a:r>
              <a:rPr lang="en-US" dirty="0"/>
              <a:t> (if present).</a:t>
            </a:r>
          </a:p>
          <a:p>
            <a:pPr marL="742950" lvl="1" indent="-285750">
              <a:spcBef>
                <a:spcPts val="0"/>
              </a:spcBef>
            </a:pPr>
            <a:r>
              <a:rPr lang="en-US" dirty="0"/>
              <a:t>If nothing is stored, default to an empty array.</a:t>
            </a:r>
          </a:p>
          <a:p>
            <a:pPr marL="0" indent="0">
              <a:buNone/>
            </a:pPr>
            <a:endParaRPr lang="en-US" sz="1400" b="1" u="sng" dirty="0"/>
          </a:p>
          <a:p>
            <a:pPr marL="0" indent="0">
              <a:buNone/>
            </a:pPr>
            <a:r>
              <a:rPr lang="en-US" sz="1400" b="1" u="sng" dirty="0"/>
              <a:t>Part B: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In </a:t>
            </a:r>
            <a:r>
              <a:rPr lang="en-US" sz="1400" b="1" dirty="0"/>
              <a:t>stores/</a:t>
            </a:r>
            <a:r>
              <a:rPr lang="en-US" sz="1400" b="1" dirty="0" err="1"/>
              <a:t>cart.js</a:t>
            </a:r>
            <a:r>
              <a:rPr lang="en-US" sz="1400" dirty="0"/>
              <a:t>, save cart to </a:t>
            </a:r>
            <a:r>
              <a:rPr lang="en-US" sz="1400" dirty="0" err="1"/>
              <a:t>localStorage</a:t>
            </a:r>
            <a:r>
              <a:rPr lang="en-US" sz="1400" dirty="0"/>
              <a:t> whenever it changes </a:t>
            </a:r>
          </a:p>
          <a:p>
            <a:pPr marL="742950" lvl="1" indent="-285750">
              <a:spcBef>
                <a:spcPts val="0"/>
              </a:spcBef>
            </a:pPr>
            <a:r>
              <a:rPr lang="en-US" dirty="0"/>
              <a:t>Whenever cart items change (add/remove/increase/decrease/clear), update </a:t>
            </a:r>
            <a:r>
              <a:rPr lang="en-US" dirty="0" err="1"/>
              <a:t>localStorage</a:t>
            </a:r>
            <a:r>
              <a:rPr lang="en-US" dirty="0"/>
              <a:t>. </a:t>
            </a:r>
          </a:p>
          <a:p>
            <a:pPr marL="742950" lvl="1" indent="-285750">
              <a:spcBef>
                <a:spcPts val="0"/>
              </a:spcBef>
            </a:pPr>
            <a:endParaRPr lang="en-SG" dirty="0"/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 marL="0" lv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119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90BC4D8A-D388-D6EA-CD7C-A79C38C8D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07412858-5672-0462-A882-7D4D7E161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Exercise 2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F1D21DFB-E819-8069-F974-E34EBE0C82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225225"/>
            <a:ext cx="4828471" cy="3784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sz="1200" dirty="0"/>
              <a:t>2. Add a new route: </a:t>
            </a:r>
            <a:r>
              <a:rPr lang="en-SG" sz="1200" b="1" dirty="0"/>
              <a:t>/products/:id</a:t>
            </a:r>
            <a:r>
              <a:rPr lang="en-SG" sz="1200" dirty="0"/>
              <a:t> that shows </a:t>
            </a:r>
            <a:r>
              <a:rPr lang="en-SG" sz="1200" b="1" dirty="0"/>
              <a:t>one product’s details</a:t>
            </a:r>
            <a:r>
              <a:rPr lang="en-SG" sz="1200" dirty="0"/>
              <a:t>.</a:t>
            </a:r>
          </a:p>
          <a:p>
            <a:pPr marL="0" lvl="0" indent="0">
              <a:buNone/>
            </a:pPr>
            <a:endParaRPr lang="en-SG" sz="1200" dirty="0"/>
          </a:p>
          <a:p>
            <a:pPr marL="0" lvl="0" indent="0">
              <a:buNone/>
            </a:pPr>
            <a:r>
              <a:rPr lang="en-SG" sz="1200" b="1" dirty="0"/>
              <a:t>Expected </a:t>
            </a:r>
            <a:r>
              <a:rPr lang="en-SG" sz="1200" b="1" dirty="0" err="1"/>
              <a:t>Behavior</a:t>
            </a:r>
            <a:r>
              <a:rPr lang="en-SG" sz="1200" b="1" dirty="0"/>
              <a:t>:</a:t>
            </a:r>
          </a:p>
          <a:p>
            <a:pPr marL="0" lvl="0" indent="0">
              <a:buNone/>
            </a:pPr>
            <a:endParaRPr lang="en-SG" sz="1200" dirty="0"/>
          </a:p>
          <a:p>
            <a:pPr marL="0" lvl="0" indent="0">
              <a:buNone/>
            </a:pPr>
            <a:r>
              <a:rPr lang="en-SG" sz="1200" dirty="0"/>
              <a:t>a) When you visit the landing page, the product titles should be displayed as clickable links</a:t>
            </a:r>
          </a:p>
          <a:p>
            <a:pPr marL="0" lvl="0" indent="0">
              <a:buNone/>
            </a:pPr>
            <a:endParaRPr lang="en-SG" sz="1200" dirty="0"/>
          </a:p>
          <a:p>
            <a:pPr marL="0" lvl="0" indent="0">
              <a:buNone/>
            </a:pPr>
            <a:endParaRPr lang="en-SG" sz="1200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FFBCD88-22B7-3D79-F890-E1A746DF5CF7}"/>
              </a:ext>
            </a:extLst>
          </p:cNvPr>
          <p:cNvSpPr txBox="1">
            <a:spLocks/>
          </p:cNvSpPr>
          <p:nvPr/>
        </p:nvSpPr>
        <p:spPr>
          <a:xfrm>
            <a:off x="4882095" y="1225225"/>
            <a:ext cx="3999900" cy="36023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buNone/>
            </a:pPr>
            <a:endParaRPr lang="en-SG" dirty="0"/>
          </a:p>
        </p:txBody>
      </p:sp>
      <p:sp>
        <p:nvSpPr>
          <p:cNvPr id="3" name="Google Shape;211;p34">
            <a:extLst>
              <a:ext uri="{FF2B5EF4-FFF2-40B4-BE49-F238E27FC236}">
                <a16:creationId xmlns:a16="http://schemas.microsoft.com/office/drawing/2014/main" id="{EF44D6B2-EF13-E704-3551-3AC4B9A820FA}"/>
              </a:ext>
            </a:extLst>
          </p:cNvPr>
          <p:cNvSpPr txBox="1">
            <a:spLocks/>
          </p:cNvSpPr>
          <p:nvPr/>
        </p:nvSpPr>
        <p:spPr>
          <a:xfrm>
            <a:off x="5140170" y="2246050"/>
            <a:ext cx="3741826" cy="265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>
              <a:buNone/>
            </a:pPr>
            <a:r>
              <a:rPr lang="en-SG" sz="1200" dirty="0"/>
              <a:t>b) When you click a link, e.g., </a:t>
            </a:r>
            <a:r>
              <a:rPr lang="en-SG" sz="1200" u="sng" dirty="0">
                <a:solidFill>
                  <a:srgbClr val="0070C0"/>
                </a:solidFill>
              </a:rPr>
              <a:t>Notebook</a:t>
            </a:r>
            <a:r>
              <a:rPr lang="en-SG" sz="1200" dirty="0"/>
              <a:t>, it should display the product detail of the notebook: </a:t>
            </a:r>
            <a:endParaRPr lang="en-SG" sz="1200" u="sng" dirty="0">
              <a:solidFill>
                <a:srgbClr val="0070C0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122205-D13C-FB4E-05F4-80A218137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548" y="3026400"/>
            <a:ext cx="2133600" cy="1781908"/>
          </a:xfrm>
          <a:prstGeom prst="rect">
            <a:avLst/>
          </a:prstGeom>
        </p:spPr>
      </p:pic>
      <p:pic>
        <p:nvPicPr>
          <p:cNvPr id="4" name="Picture 3" descr="A screenshot of a product&#10;&#10;AI-generated content may be incorrect.">
            <a:extLst>
              <a:ext uri="{FF2B5EF4-FFF2-40B4-BE49-F238E27FC236}">
                <a16:creationId xmlns:a16="http://schemas.microsoft.com/office/drawing/2014/main" id="{AE70AC39-966B-DAC8-5F06-8E8B1FDB6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755" y="2734322"/>
            <a:ext cx="1458873" cy="193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30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43621A30-087E-3C83-6E8B-46C0C1B1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D8F33790-F275-B5F4-B634-1E282C5BFC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Exercise 2 (continue)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6B6EF8A3-E8B5-B8CD-5F91-19FACB57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225226"/>
            <a:ext cx="4568123" cy="3602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sz="1200" b="1" u="sng" dirty="0"/>
              <a:t>Part A:</a:t>
            </a:r>
          </a:p>
          <a:p>
            <a:pPr marL="0" indent="0">
              <a:buNone/>
            </a:pPr>
            <a:r>
              <a:rPr lang="en-SG" sz="1200" b="1" dirty="0"/>
              <a:t>In views/</a:t>
            </a:r>
            <a:r>
              <a:rPr lang="en-SG" sz="1200" dirty="0"/>
              <a:t>, create a new component, </a:t>
            </a:r>
            <a:r>
              <a:rPr lang="en-SG" sz="1200" b="1" dirty="0" err="1"/>
              <a:t>ProductDetailView.vue</a:t>
            </a:r>
            <a:endParaRPr lang="en-SG" sz="1200" b="1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SG" sz="1200" dirty="0"/>
              <a:t>Intuitively, this component is to provide a detail view of the product with the given id</a:t>
            </a:r>
          </a:p>
          <a:p>
            <a:pPr marL="0" indent="0"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The UI should:</a:t>
            </a:r>
          </a:p>
          <a:p>
            <a:pPr marL="285750" indent="-285750"/>
            <a:r>
              <a:rPr lang="en-SG" sz="1200" dirty="0"/>
              <a:t>show: title, price, and a short description. Hint: </a:t>
            </a:r>
          </a:p>
          <a:p>
            <a:pPr marL="628650" lvl="1" indent="-171450">
              <a:spcBef>
                <a:spcPts val="0"/>
              </a:spcBef>
            </a:pPr>
            <a:r>
              <a:rPr lang="en-SG" sz="1200" dirty="0"/>
              <a:t>invoke </a:t>
            </a:r>
            <a:r>
              <a:rPr lang="en-SG" sz="1200" dirty="0" err="1"/>
              <a:t>productsStore.fetchProducts</a:t>
            </a:r>
            <a:r>
              <a:rPr lang="en-SG" sz="1200" dirty="0"/>
              <a:t>() on mounted</a:t>
            </a:r>
          </a:p>
          <a:p>
            <a:pPr marL="628650" lvl="1" indent="-171450">
              <a:spcBef>
                <a:spcPts val="0"/>
              </a:spcBef>
            </a:pPr>
            <a:r>
              <a:rPr lang="en-SG" sz="1200" dirty="0"/>
              <a:t>Use </a:t>
            </a:r>
            <a:r>
              <a:rPr lang="en-SG" sz="1200" dirty="0" err="1"/>
              <a:t>productsStore.products</a:t>
            </a:r>
            <a:r>
              <a:rPr lang="en-SG" sz="1200" dirty="0"/>
              <a:t> to find the product with the given id</a:t>
            </a:r>
          </a:p>
          <a:p>
            <a:pPr marL="285750" indent="-285750"/>
            <a:r>
              <a:rPr lang="en-SG" sz="1200" dirty="0"/>
              <a:t>has an “Add to cart” button that uses </a:t>
            </a:r>
            <a:r>
              <a:rPr lang="en-SG" sz="1200" dirty="0" err="1"/>
              <a:t>cartStore’s</a:t>
            </a:r>
            <a:r>
              <a:rPr lang="en-SG" sz="1200" dirty="0"/>
              <a:t> </a:t>
            </a:r>
            <a:r>
              <a:rPr lang="en-SG" sz="1200" dirty="0" err="1"/>
              <a:t>addToCart</a:t>
            </a:r>
            <a:r>
              <a:rPr lang="en-SG" sz="1200" dirty="0"/>
              <a:t>(product), which adds the product to the cart</a:t>
            </a:r>
          </a:p>
          <a:p>
            <a:pPr marL="285750" indent="-285750"/>
            <a:r>
              <a:rPr lang="en-SG" sz="1200" dirty="0"/>
              <a:t>has a “&lt;- Back” link. Clicking on the link should go back to </a:t>
            </a:r>
            <a:r>
              <a:rPr lang="en-SG" sz="1200" dirty="0">
                <a:highlight>
                  <a:srgbClr val="C0C0C0"/>
                </a:highlight>
              </a:rPr>
              <a:t>/products </a:t>
            </a:r>
            <a:r>
              <a:rPr lang="en-SG" sz="1200" dirty="0"/>
              <a:t>page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Error handling</a:t>
            </a:r>
          </a:p>
          <a:p>
            <a:pPr marL="285750" indent="-285750"/>
            <a:r>
              <a:rPr lang="en-SG" sz="1200" dirty="0"/>
              <a:t>If product id doesn’t exist, show “Product not found” and a link back to /products.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B8B84E-FF2F-F303-CC63-D823151B4431}"/>
              </a:ext>
            </a:extLst>
          </p:cNvPr>
          <p:cNvSpPr txBox="1">
            <a:spLocks/>
          </p:cNvSpPr>
          <p:nvPr/>
        </p:nvSpPr>
        <p:spPr>
          <a:xfrm>
            <a:off x="4882095" y="1225225"/>
            <a:ext cx="3999900" cy="36023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buNone/>
            </a:pPr>
            <a:endParaRPr lang="en-SG" dirty="0"/>
          </a:p>
        </p:txBody>
      </p:sp>
      <p:sp>
        <p:nvSpPr>
          <p:cNvPr id="3" name="Google Shape;211;p34">
            <a:extLst>
              <a:ext uri="{FF2B5EF4-FFF2-40B4-BE49-F238E27FC236}">
                <a16:creationId xmlns:a16="http://schemas.microsoft.com/office/drawing/2014/main" id="{7BAE7FFB-A0F3-E7A8-01ED-9E8CC832A81C}"/>
              </a:ext>
            </a:extLst>
          </p:cNvPr>
          <p:cNvSpPr txBox="1">
            <a:spLocks/>
          </p:cNvSpPr>
          <p:nvPr/>
        </p:nvSpPr>
        <p:spPr>
          <a:xfrm>
            <a:off x="4879823" y="1317162"/>
            <a:ext cx="4273056" cy="358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None/>
            </a:pPr>
            <a:r>
              <a:rPr lang="en-SG" sz="1200" b="1" dirty="0"/>
              <a:t>In router/</a:t>
            </a:r>
            <a:r>
              <a:rPr lang="en-SG" sz="1200" b="1" dirty="0" err="1"/>
              <a:t>index.js</a:t>
            </a:r>
            <a:r>
              <a:rPr lang="en-SG" sz="1200" dirty="0"/>
              <a:t>, add a new route that maps to </a:t>
            </a:r>
            <a:r>
              <a:rPr lang="en-SG" sz="1200" dirty="0" err="1"/>
              <a:t>ProductsDetailView.vue</a:t>
            </a:r>
            <a:r>
              <a:rPr lang="en-SG" sz="1200" dirty="0"/>
              <a:t> component:</a:t>
            </a:r>
          </a:p>
          <a:p>
            <a:pPr marL="0" indent="0">
              <a:buNone/>
            </a:pPr>
            <a:r>
              <a:rPr lang="en-SG" sz="1200" dirty="0"/>
              <a:t>    { path: "/products/:id”, component: </a:t>
            </a:r>
            <a:r>
              <a:rPr lang="en-SG" sz="1200" dirty="0" err="1"/>
              <a:t>ProductDetailView</a:t>
            </a:r>
            <a:r>
              <a:rPr lang="en-SG" sz="1200" dirty="0"/>
              <a:t> }</a:t>
            </a:r>
          </a:p>
          <a:p>
            <a:pPr marL="285750" indent="-285750"/>
            <a:endParaRPr lang="en-SG" sz="1200" dirty="0"/>
          </a:p>
          <a:p>
            <a:pPr marL="0" lvl="0" indent="0">
              <a:buNone/>
            </a:pPr>
            <a:endParaRPr lang="en-SG" sz="12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4103F5-E41D-F5FA-949C-20C45F0FF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494" y="2436821"/>
            <a:ext cx="2189153" cy="182830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DBAEEA-39DC-7EBD-C429-02B34560C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646" y="2906225"/>
            <a:ext cx="1986753" cy="126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3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F6FE4094-BDF1-E141-1A34-5E137A0B6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49B1F9E5-A222-B4CC-96D2-6BEB13F80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Exercise 2 (continue)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AAA9CEE3-ABD7-079E-E530-FF0BE0791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4717500" cy="3784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SG" sz="1200" b="1" u="sng" dirty="0"/>
              <a:t>Part B:</a:t>
            </a:r>
          </a:p>
          <a:p>
            <a:pPr marL="0" indent="0">
              <a:buNone/>
            </a:pPr>
            <a:endParaRPr lang="en-SG" sz="1200" b="1" dirty="0"/>
          </a:p>
          <a:p>
            <a:pPr marL="0" indent="0">
              <a:buNone/>
            </a:pPr>
            <a:r>
              <a:rPr lang="en-SG" sz="1200" b="1" dirty="0"/>
              <a:t>In components/</a:t>
            </a:r>
            <a:r>
              <a:rPr lang="en-SG" sz="1200" b="1" dirty="0" err="1"/>
              <a:t>ProductCard.vue</a:t>
            </a:r>
            <a:r>
              <a:rPr lang="en-SG" sz="1200" dirty="0"/>
              <a:t>, modify code so that </a:t>
            </a:r>
            <a:r>
              <a:rPr lang="en-SG" sz="1200" i="1" dirty="0"/>
              <a:t>product title, e.g., “Notebook”, </a:t>
            </a:r>
            <a:r>
              <a:rPr lang="en-SG" sz="1200" dirty="0"/>
              <a:t>can be clickable and it leads to </a:t>
            </a:r>
            <a:r>
              <a:rPr lang="en-SG" sz="1200" dirty="0" err="1"/>
              <a:t>ProductDetailView</a:t>
            </a:r>
            <a:r>
              <a:rPr lang="en-SG" sz="1200" dirty="0"/>
              <a:t> on click</a:t>
            </a:r>
          </a:p>
          <a:p>
            <a:pPr marL="0" lvl="0" indent="0">
              <a:buNone/>
            </a:pPr>
            <a:endParaRPr lang="en-SG" sz="1200" dirty="0"/>
          </a:p>
          <a:p>
            <a:pPr marL="0" lvl="0" indent="0">
              <a:buNone/>
            </a:pPr>
            <a:endParaRPr lang="en-SG" sz="1400" dirty="0"/>
          </a:p>
          <a:p>
            <a:pPr marL="0" lvl="0" indent="0">
              <a:buNone/>
            </a:pPr>
            <a:endParaRPr lang="en-SG" sz="1400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BE3E9DC-EA5C-096A-1E65-719E7CF33B99}"/>
              </a:ext>
            </a:extLst>
          </p:cNvPr>
          <p:cNvSpPr txBox="1">
            <a:spLocks/>
          </p:cNvSpPr>
          <p:nvPr/>
        </p:nvSpPr>
        <p:spPr>
          <a:xfrm>
            <a:off x="4882095" y="1225225"/>
            <a:ext cx="3999900" cy="36023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buNone/>
            </a:pPr>
            <a:endParaRPr lang="en-SG" dirty="0"/>
          </a:p>
        </p:txBody>
      </p:sp>
      <p:sp>
        <p:nvSpPr>
          <p:cNvPr id="3" name="Google Shape;211;p34">
            <a:extLst>
              <a:ext uri="{FF2B5EF4-FFF2-40B4-BE49-F238E27FC236}">
                <a16:creationId xmlns:a16="http://schemas.microsoft.com/office/drawing/2014/main" id="{D83E54B5-6C5D-AF78-6112-6FE976950F8B}"/>
              </a:ext>
            </a:extLst>
          </p:cNvPr>
          <p:cNvSpPr txBox="1">
            <a:spLocks/>
          </p:cNvSpPr>
          <p:nvPr/>
        </p:nvSpPr>
        <p:spPr>
          <a:xfrm>
            <a:off x="4882095" y="1317162"/>
            <a:ext cx="3999900" cy="358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>
              <a:buNone/>
            </a:pPr>
            <a:endParaRPr lang="en-SG" sz="1400" dirty="0"/>
          </a:p>
          <a:p>
            <a:pPr marL="0" lvl="0" indent="0">
              <a:buNone/>
            </a:pPr>
            <a:endParaRPr lang="en-SG" sz="1400" dirty="0"/>
          </a:p>
          <a:p>
            <a:pPr marL="0" lvl="0" indent="0">
              <a:buNone/>
            </a:pPr>
            <a:endParaRPr lang="en-SG" sz="1400" dirty="0"/>
          </a:p>
        </p:txBody>
      </p:sp>
      <p:pic>
        <p:nvPicPr>
          <p:cNvPr id="7" name="Picture 6" descr="A screenshot of a product&#10;&#10;AI-generated content may be incorrect.">
            <a:extLst>
              <a:ext uri="{FF2B5EF4-FFF2-40B4-BE49-F238E27FC236}">
                <a16:creationId xmlns:a16="http://schemas.microsoft.com/office/drawing/2014/main" id="{D7322FB3-C205-BE11-44E9-662CBF850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870" y="1476960"/>
            <a:ext cx="20955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445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850CA9C1-DBD2-4889-46EF-943861E8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EF78902F-D468-61FC-616E-D6D02A0C1B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Exercise 3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0EAC9EAF-2F8D-2458-621A-8BB71B4EE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4717500" cy="3784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sz="1400" dirty="0"/>
              <a:t>3. If the user refreshes, they should stay logged in (token and username persist).</a:t>
            </a:r>
            <a:endParaRPr lang="en-US" sz="1400" dirty="0"/>
          </a:p>
          <a:p>
            <a:pPr marL="0" lvl="0" indent="0">
              <a:buNone/>
            </a:pPr>
            <a:endParaRPr lang="en-SG" sz="1400" dirty="0"/>
          </a:p>
          <a:p>
            <a:pPr marL="0" lvl="0" indent="0">
              <a:buNone/>
            </a:pPr>
            <a:r>
              <a:rPr lang="en-SG" sz="1200" b="1" u="sng" dirty="0"/>
              <a:t>Part A: Update stores/</a:t>
            </a:r>
            <a:r>
              <a:rPr lang="en-SG" sz="1200" b="1" u="sng" dirty="0" err="1"/>
              <a:t>auth.js</a:t>
            </a:r>
            <a:endParaRPr lang="en-SG" sz="1200" b="1" u="sng" dirty="0"/>
          </a:p>
          <a:p>
            <a:pPr marL="0" indent="0">
              <a:buNone/>
            </a:pPr>
            <a:r>
              <a:rPr lang="en-SG" sz="1200" dirty="0"/>
              <a:t>Persist auth info</a:t>
            </a:r>
          </a:p>
          <a:p>
            <a:pPr marL="742950" lvl="1" indent="-285750">
              <a:spcBef>
                <a:spcPts val="0"/>
              </a:spcBef>
            </a:pPr>
            <a:r>
              <a:rPr lang="en-SG" sz="1200" dirty="0"/>
              <a:t>Save { token, username } to </a:t>
            </a:r>
            <a:r>
              <a:rPr lang="en-SG" sz="1200" dirty="0" err="1"/>
              <a:t>localStorage</a:t>
            </a:r>
            <a:r>
              <a:rPr lang="en-SG" sz="1200" dirty="0"/>
              <a:t> when login succeeds.</a:t>
            </a:r>
          </a:p>
          <a:p>
            <a:pPr marL="742950" lvl="1" indent="-285750">
              <a:spcBef>
                <a:spcPts val="0"/>
              </a:spcBef>
            </a:pPr>
            <a:r>
              <a:rPr lang="en-SG" sz="1200" dirty="0"/>
              <a:t>Use a </a:t>
            </a:r>
            <a:r>
              <a:rPr lang="en-SG" sz="1200" dirty="0" err="1"/>
              <a:t>localStorage</a:t>
            </a:r>
            <a:r>
              <a:rPr lang="en-SG" sz="1200" dirty="0"/>
              <a:t> key</a:t>
            </a:r>
          </a:p>
          <a:p>
            <a:pPr marL="742950" lvl="1" indent="-285750">
              <a:spcBef>
                <a:spcPts val="0"/>
              </a:spcBef>
            </a:pPr>
            <a:endParaRPr lang="en-SG" sz="1200" dirty="0"/>
          </a:p>
          <a:p>
            <a:pPr marL="0" indent="0">
              <a:buNone/>
            </a:pPr>
            <a:r>
              <a:rPr lang="en-SG" sz="1200" dirty="0"/>
              <a:t>Load auth info on startup</a:t>
            </a:r>
          </a:p>
          <a:p>
            <a:pPr marL="742950" lvl="1" indent="-285750">
              <a:spcBef>
                <a:spcPts val="0"/>
              </a:spcBef>
            </a:pPr>
            <a:r>
              <a:rPr lang="en-SG" sz="1200" dirty="0"/>
              <a:t>When the auth store is created, if </a:t>
            </a:r>
            <a:r>
              <a:rPr lang="en-SG" sz="1200" dirty="0" err="1"/>
              <a:t>localStorage</a:t>
            </a:r>
            <a:r>
              <a:rPr lang="en-SG" sz="1200" dirty="0"/>
              <a:t> has saved auth info:</a:t>
            </a:r>
          </a:p>
          <a:p>
            <a:pPr marL="1200150" lvl="2" indent="-285750">
              <a:spcBef>
                <a:spcPts val="0"/>
              </a:spcBef>
            </a:pPr>
            <a:r>
              <a:rPr lang="en-SG" sz="1200" dirty="0"/>
              <a:t>restore token and user</a:t>
            </a:r>
          </a:p>
          <a:p>
            <a:pPr marL="1200150" lvl="2" indent="-285750">
              <a:spcBef>
                <a:spcPts val="0"/>
              </a:spcBef>
            </a:pPr>
            <a:r>
              <a:rPr lang="en-SG" sz="1200" dirty="0" err="1"/>
              <a:t>auth.isLoggedIn</a:t>
            </a:r>
            <a:r>
              <a:rPr lang="en-SG" sz="1200" dirty="0"/>
              <a:t> should become true automatically.</a:t>
            </a:r>
          </a:p>
          <a:p>
            <a:pPr marL="0" lvl="0" indent="0">
              <a:buNone/>
            </a:pPr>
            <a:endParaRPr lang="en-SG" sz="1400" dirty="0"/>
          </a:p>
          <a:p>
            <a:pPr marL="0" lvl="0" indent="0">
              <a:buNone/>
            </a:pPr>
            <a:endParaRPr lang="en-SG" sz="1400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0B91799-0314-4568-F850-FB664EAFCFAB}"/>
              </a:ext>
            </a:extLst>
          </p:cNvPr>
          <p:cNvSpPr txBox="1">
            <a:spLocks/>
          </p:cNvSpPr>
          <p:nvPr/>
        </p:nvSpPr>
        <p:spPr>
          <a:xfrm>
            <a:off x="4882095" y="1225225"/>
            <a:ext cx="3999900" cy="36023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buNone/>
            </a:pPr>
            <a:endParaRPr lang="en-SG" dirty="0"/>
          </a:p>
        </p:txBody>
      </p:sp>
      <p:sp>
        <p:nvSpPr>
          <p:cNvPr id="3" name="Google Shape;211;p34">
            <a:extLst>
              <a:ext uri="{FF2B5EF4-FFF2-40B4-BE49-F238E27FC236}">
                <a16:creationId xmlns:a16="http://schemas.microsoft.com/office/drawing/2014/main" id="{C6E681CA-F6A7-404D-C845-381DEA57AFAB}"/>
              </a:ext>
            </a:extLst>
          </p:cNvPr>
          <p:cNvSpPr txBox="1">
            <a:spLocks/>
          </p:cNvSpPr>
          <p:nvPr/>
        </p:nvSpPr>
        <p:spPr>
          <a:xfrm>
            <a:off x="4882095" y="1518082"/>
            <a:ext cx="3999900" cy="3387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285750" indent="-285750"/>
            <a:endParaRPr lang="en-SG" sz="1200" dirty="0"/>
          </a:p>
          <a:p>
            <a:pPr marL="285750" indent="-285750"/>
            <a:endParaRPr lang="en-SG" sz="1200" dirty="0"/>
          </a:p>
          <a:p>
            <a:pPr marL="0" indent="0">
              <a:buNone/>
            </a:pPr>
            <a:r>
              <a:rPr lang="en-SG" sz="1200" b="1" u="sng" dirty="0"/>
              <a:t>Part B: Update stores/</a:t>
            </a:r>
            <a:r>
              <a:rPr lang="en-SG" sz="1200" b="1" u="sng" dirty="0" err="1"/>
              <a:t>auth.js</a:t>
            </a:r>
            <a:endParaRPr lang="en-SG" sz="1200" b="1" u="sng" dirty="0"/>
          </a:p>
          <a:p>
            <a:pPr marL="0" indent="0">
              <a:buNone/>
            </a:pPr>
            <a:r>
              <a:rPr lang="en-SG" sz="1200" dirty="0"/>
              <a:t>Logout must clear saved state</a:t>
            </a:r>
          </a:p>
          <a:p>
            <a:pPr marL="742950" lvl="1" indent="-285750">
              <a:spcBef>
                <a:spcPts val="0"/>
              </a:spcBef>
            </a:pPr>
            <a:r>
              <a:rPr lang="en-SG" sz="1200" dirty="0"/>
              <a:t>Update logout() action to also remove the </a:t>
            </a:r>
            <a:r>
              <a:rPr lang="en-SG" sz="1200" dirty="0" err="1"/>
              <a:t>localStorage</a:t>
            </a:r>
            <a:r>
              <a:rPr lang="en-SG" sz="1200" dirty="0"/>
              <a:t> key.</a:t>
            </a:r>
          </a:p>
          <a:p>
            <a:pPr marL="742950" lvl="1" indent="-285750">
              <a:spcBef>
                <a:spcPts val="0"/>
              </a:spcBef>
            </a:pPr>
            <a:endParaRPr lang="en-SG" sz="1200" dirty="0"/>
          </a:p>
          <a:p>
            <a:pPr marL="742950" lvl="1" indent="-285750">
              <a:spcBef>
                <a:spcPts val="0"/>
              </a:spcBef>
            </a:pPr>
            <a:endParaRPr lang="en-SG" sz="1200" dirty="0"/>
          </a:p>
          <a:p>
            <a:pPr marL="0" indent="0">
              <a:buNone/>
            </a:pPr>
            <a:r>
              <a:rPr lang="en-SG" sz="1200" b="1" u="sng" dirty="0"/>
              <a:t>Part C: Update views/</a:t>
            </a:r>
            <a:r>
              <a:rPr lang="en-SG" sz="1200" b="1" u="sng" dirty="0" err="1"/>
              <a:t>LoginView.vue</a:t>
            </a:r>
            <a:endParaRPr lang="en-SG" sz="1200" b="1" u="sng" dirty="0"/>
          </a:p>
          <a:p>
            <a:pPr marL="0" indent="0">
              <a:buNone/>
            </a:pPr>
            <a:r>
              <a:rPr lang="en-SG" sz="1200" dirty="0"/>
              <a:t>In </a:t>
            </a:r>
            <a:r>
              <a:rPr lang="en-SG" sz="1200" dirty="0" err="1"/>
              <a:t>LoginView</a:t>
            </a:r>
            <a:r>
              <a:rPr lang="en-SG" sz="1200" dirty="0"/>
              <a:t>, if the user is already logged in, redirect them to /products immediately.</a:t>
            </a:r>
          </a:p>
        </p:txBody>
      </p:sp>
    </p:spTree>
    <p:extLst>
      <p:ext uri="{BB962C8B-B14F-4D97-AF65-F5344CB8AC3E}">
        <p14:creationId xmlns:p14="http://schemas.microsoft.com/office/powerpoint/2010/main" val="12578599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A476A9D8-41EF-F57C-FA02-074E60E6D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5D9F4AE7-84E0-C66D-2A09-099FA1039C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Exercise 3 (continue)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D32F5802-4F90-6399-E807-A9FA1F75C2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4717500" cy="3784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sz="1400" dirty="0"/>
              <a:t>3. If the user refreshes, they should stay logged in (token and username persist).</a:t>
            </a:r>
            <a:endParaRPr lang="en-US" sz="1400" dirty="0"/>
          </a:p>
          <a:p>
            <a:pPr marL="0" lvl="0" indent="0">
              <a:buNone/>
            </a:pPr>
            <a:endParaRPr lang="en-SG" sz="1400" dirty="0"/>
          </a:p>
          <a:p>
            <a:pPr marL="0" lvl="0" indent="0">
              <a:buNone/>
            </a:pPr>
            <a:r>
              <a:rPr lang="en-SG" sz="1400" dirty="0"/>
              <a:t>If implemented correctly, visiting the website again, after having logged in previously,  should show the user authentication status (“Hello, student”) </a:t>
            </a:r>
            <a:endParaRPr lang="en-SG" sz="1200" dirty="0"/>
          </a:p>
          <a:p>
            <a:pPr marL="0" lvl="0" indent="0">
              <a:buNone/>
            </a:pPr>
            <a:endParaRPr lang="en-SG" sz="1400" dirty="0"/>
          </a:p>
          <a:p>
            <a:pPr marL="0" lvl="0" indent="0">
              <a:buNone/>
            </a:pPr>
            <a:endParaRPr lang="en-SG" sz="1400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F8863A2-B1D7-F906-9A87-9C974976E4A4}"/>
              </a:ext>
            </a:extLst>
          </p:cNvPr>
          <p:cNvSpPr txBox="1">
            <a:spLocks/>
          </p:cNvSpPr>
          <p:nvPr/>
        </p:nvSpPr>
        <p:spPr>
          <a:xfrm>
            <a:off x="4882095" y="1225225"/>
            <a:ext cx="3999900" cy="36023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buNone/>
            </a:pPr>
            <a:endParaRPr lang="en-SG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DC67E8-52ED-31AC-F06C-2DD8A0A6C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345" y="2199253"/>
            <a:ext cx="3649400" cy="196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64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83008BD1-03BF-A8D7-FEA5-E6EABE60D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C6D7EA44-E430-8AA4-2B5B-E930A0773F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Exercise 4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DA10BF56-3DEF-C5BF-5E91-C3B09AC85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225225"/>
            <a:ext cx="6089101" cy="3784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sz="1400" dirty="0"/>
              <a:t>4. After checkout, create an order and allow the user to view past orders at /orders (protected API).</a:t>
            </a:r>
          </a:p>
          <a:p>
            <a:pPr marL="0" lvl="0" indent="0">
              <a:buNone/>
            </a:pPr>
            <a:endParaRPr lang="en-SG" sz="1400" dirty="0"/>
          </a:p>
          <a:p>
            <a:pPr marL="0" indent="0">
              <a:buNone/>
            </a:pPr>
            <a:r>
              <a:rPr lang="en-SG" sz="1400" b="1" dirty="0"/>
              <a:t>Part A: </a:t>
            </a:r>
          </a:p>
          <a:p>
            <a:pPr marL="0" indent="0">
              <a:buNone/>
            </a:pPr>
            <a:r>
              <a:rPr lang="en-SG" sz="1400" dirty="0"/>
              <a:t>Create a new orders store (</a:t>
            </a:r>
            <a:r>
              <a:rPr lang="en-SG" sz="1400" dirty="0" err="1"/>
              <a:t>orders.js</a:t>
            </a:r>
            <a:r>
              <a:rPr lang="en-SG" sz="1400" dirty="0"/>
              <a:t>) with action: </a:t>
            </a:r>
            <a:r>
              <a:rPr lang="en-SG" sz="1400" b="1" dirty="0" err="1"/>
              <a:t>fetchOrders</a:t>
            </a:r>
            <a:r>
              <a:rPr lang="en-SG" sz="1400" b="1" dirty="0"/>
              <a:t>(token)</a:t>
            </a:r>
          </a:p>
          <a:p>
            <a:pPr marL="742950" lvl="1" indent="-285750">
              <a:spcBef>
                <a:spcPts val="0"/>
              </a:spcBef>
            </a:pPr>
            <a:r>
              <a:rPr lang="en-SG" sz="1200" dirty="0" err="1"/>
              <a:t>fetchOrders</a:t>
            </a:r>
            <a:r>
              <a:rPr lang="en-SG" sz="1200" dirty="0"/>
              <a:t> method receives the user authentication token as input</a:t>
            </a:r>
          </a:p>
          <a:p>
            <a:pPr marL="742950" lvl="1" indent="-285750">
              <a:spcBef>
                <a:spcPts val="0"/>
              </a:spcBef>
            </a:pPr>
            <a:r>
              <a:rPr lang="en-SG" sz="1200" dirty="0"/>
              <a:t>It then sends a GET request to the backend to fetch the user’s order history</a:t>
            </a:r>
          </a:p>
          <a:p>
            <a:pPr marL="742950" lvl="1" indent="-285750">
              <a:spcBef>
                <a:spcPts val="0"/>
              </a:spcBef>
            </a:pPr>
            <a:r>
              <a:rPr lang="en-SG" sz="1200" dirty="0"/>
              <a:t>Use provided Backend API: </a:t>
            </a:r>
          </a:p>
          <a:p>
            <a:pPr marL="1200150" lvl="2" indent="-285750">
              <a:spcBef>
                <a:spcPts val="0"/>
              </a:spcBef>
            </a:pPr>
            <a:r>
              <a:rPr lang="en-SG" sz="1200" dirty="0"/>
              <a:t>GET /orders </a:t>
            </a:r>
          </a:p>
          <a:p>
            <a:pPr marL="1200150" lvl="2" indent="-285750">
              <a:spcBef>
                <a:spcPts val="0"/>
              </a:spcBef>
            </a:pPr>
            <a:r>
              <a:rPr lang="en-SG" sz="1200" dirty="0"/>
              <a:t>Provide authentication token in config parameter, e.g.,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SG" sz="1200" dirty="0"/>
              <a:t>                await </a:t>
            </a:r>
            <a:r>
              <a:rPr lang="en-SG" sz="1200" dirty="0" err="1"/>
              <a:t>axios.get</a:t>
            </a:r>
            <a:r>
              <a:rPr lang="en-SG" sz="1200" dirty="0"/>
              <a:t>("http://localhost:8000/orders", {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SG" sz="1200" dirty="0"/>
              <a:t>                                headers: {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SG" sz="1200" dirty="0"/>
              <a:t>                                 "Authorization": `Bearer ${token}`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SG" sz="1200" dirty="0"/>
              <a:t>                                }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SG" sz="1200" dirty="0"/>
              <a:t>                                })</a:t>
            </a:r>
            <a:endParaRPr lang="en-SG" sz="1400" dirty="0"/>
          </a:p>
          <a:p>
            <a:pPr marL="0" lvl="0" indent="0">
              <a:buNone/>
            </a:pPr>
            <a:endParaRPr lang="en-SG" sz="1400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F7A4371-E294-5885-F065-A07EDE329641}"/>
              </a:ext>
            </a:extLst>
          </p:cNvPr>
          <p:cNvSpPr txBox="1">
            <a:spLocks/>
          </p:cNvSpPr>
          <p:nvPr/>
        </p:nvSpPr>
        <p:spPr>
          <a:xfrm>
            <a:off x="4882095" y="1225225"/>
            <a:ext cx="3999900" cy="36023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F4B73-487B-655D-53AF-BFF816F945FC}"/>
              </a:ext>
            </a:extLst>
          </p:cNvPr>
          <p:cNvSpPr txBox="1"/>
          <p:nvPr/>
        </p:nvSpPr>
        <p:spPr>
          <a:xfrm>
            <a:off x="6282047" y="1225225"/>
            <a:ext cx="2550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Check out this video for the expected app behavior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5D5EC-CFDF-42FB-D813-FBABB580E1AB}"/>
              </a:ext>
            </a:extLst>
          </p:cNvPr>
          <p:cNvSpPr txBox="1"/>
          <p:nvPr/>
        </p:nvSpPr>
        <p:spPr>
          <a:xfrm>
            <a:off x="5476567" y="4552335"/>
            <a:ext cx="35592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</a:rPr>
              <a:t>See the </a:t>
            </a:r>
            <a:r>
              <a:rPr lang="en-US" sz="900" dirty="0" err="1">
                <a:solidFill>
                  <a:srgbClr val="C00000"/>
                </a:solidFill>
              </a:rPr>
              <a:t>PostMan</a:t>
            </a:r>
            <a:r>
              <a:rPr lang="en-US" sz="900" dirty="0">
                <a:solidFill>
                  <a:srgbClr val="C00000"/>
                </a:solidFill>
              </a:rPr>
              <a:t> screenshot in </a:t>
            </a:r>
            <a:r>
              <a:rPr lang="en-US" sz="900" dirty="0" err="1">
                <a:solidFill>
                  <a:srgbClr val="C00000"/>
                </a:solidFill>
              </a:rPr>
              <a:t>nextslide</a:t>
            </a:r>
            <a:r>
              <a:rPr lang="en-US" sz="900" dirty="0">
                <a:solidFill>
                  <a:srgbClr val="C00000"/>
                </a:solidFill>
              </a:rPr>
              <a:t> for detail about this API</a:t>
            </a:r>
          </a:p>
        </p:txBody>
      </p:sp>
    </p:spTree>
    <p:extLst>
      <p:ext uri="{BB962C8B-B14F-4D97-AF65-F5344CB8AC3E}">
        <p14:creationId xmlns:p14="http://schemas.microsoft.com/office/powerpoint/2010/main" val="4569366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63779C4B-1771-6EE3-17B7-7E18A68F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E322F6A4-1001-69C0-0814-5382BD997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Exercise 4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6D63B26A-F339-2451-C676-62DA7C601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225225"/>
            <a:ext cx="6089101" cy="3784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sz="1400" dirty="0"/>
              <a:t>/orders API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73A58AA-0BAC-5846-3D46-00A10EB38AEA}"/>
              </a:ext>
            </a:extLst>
          </p:cNvPr>
          <p:cNvSpPr txBox="1">
            <a:spLocks/>
          </p:cNvSpPr>
          <p:nvPr/>
        </p:nvSpPr>
        <p:spPr>
          <a:xfrm>
            <a:off x="4882095" y="1225225"/>
            <a:ext cx="3999900" cy="36023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buNone/>
            </a:pPr>
            <a:endParaRPr lang="en-SG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55A245-CB9A-F55A-77DE-9C702C299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49" y="11782"/>
            <a:ext cx="5293218" cy="50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575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349CEB39-4F48-4075-7C10-102D962A6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C7AEFF90-DEA8-BD94-E633-0139E08475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Exercise 4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E0390592-F92C-36B5-5701-13A6B9472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6017848" cy="3784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sz="1400" dirty="0"/>
              <a:t>4. After checkout, create an order and allow the user to view past orders at /orders (protected API).</a:t>
            </a:r>
          </a:p>
          <a:p>
            <a:pPr marL="0" lvl="0" indent="0">
              <a:buNone/>
            </a:pPr>
            <a:endParaRPr lang="en-SG" sz="1400" dirty="0"/>
          </a:p>
          <a:p>
            <a:pPr marL="0" indent="0">
              <a:buNone/>
            </a:pPr>
            <a:r>
              <a:rPr lang="en-SG" sz="1400" b="1" dirty="0"/>
              <a:t>Part B: </a:t>
            </a:r>
          </a:p>
          <a:p>
            <a:pPr marL="0" indent="0">
              <a:buNone/>
            </a:pPr>
            <a:r>
              <a:rPr lang="en-SG" sz="1400" dirty="0"/>
              <a:t>Create a new view: </a:t>
            </a:r>
            <a:r>
              <a:rPr lang="en-SG" sz="1400" b="1" dirty="0"/>
              <a:t>views/</a:t>
            </a:r>
            <a:r>
              <a:rPr lang="en-SG" sz="1400" b="1" dirty="0" err="1"/>
              <a:t>OrdersView.vue</a:t>
            </a:r>
            <a:endParaRPr lang="en-SG" sz="1400" b="1" dirty="0"/>
          </a:p>
          <a:p>
            <a:pPr marL="742950" lvl="1" indent="-285750">
              <a:spcBef>
                <a:spcPts val="0"/>
              </a:spcBef>
            </a:pPr>
            <a:r>
              <a:rPr lang="en-SG" dirty="0"/>
              <a:t>This component should display the user’s order history, using the orders store created in Part A</a:t>
            </a:r>
          </a:p>
          <a:p>
            <a:pPr marL="0" indent="0">
              <a:buNone/>
            </a:pPr>
            <a:endParaRPr lang="en-SG" sz="1400" dirty="0"/>
          </a:p>
          <a:p>
            <a:pPr marL="285750" indent="-285750"/>
            <a:endParaRPr lang="en-SG" sz="1400" dirty="0"/>
          </a:p>
          <a:p>
            <a:pPr marL="0" lvl="0" indent="0">
              <a:buNone/>
            </a:pPr>
            <a:endParaRPr lang="en-SG" sz="1400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4364E32-7E08-C54E-C22C-75C48BEBD2EC}"/>
              </a:ext>
            </a:extLst>
          </p:cNvPr>
          <p:cNvSpPr txBox="1">
            <a:spLocks/>
          </p:cNvSpPr>
          <p:nvPr/>
        </p:nvSpPr>
        <p:spPr>
          <a:xfrm>
            <a:off x="4882095" y="1225225"/>
            <a:ext cx="3999900" cy="36023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FAC87-4094-8718-3C0B-7164E4E4E3C9}"/>
              </a:ext>
            </a:extLst>
          </p:cNvPr>
          <p:cNvSpPr txBox="1"/>
          <p:nvPr/>
        </p:nvSpPr>
        <p:spPr>
          <a:xfrm>
            <a:off x="6282047" y="1225225"/>
            <a:ext cx="2550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Check out this video for the expected app behavior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144610-864E-1A4C-6C62-3F6FA50F6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722" y="2876765"/>
            <a:ext cx="3770650" cy="208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499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E5E27F68-361B-7C87-BE1F-D811BFC5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>
            <a:extLst>
              <a:ext uri="{FF2B5EF4-FFF2-40B4-BE49-F238E27FC236}">
                <a16:creationId xmlns:a16="http://schemas.microsoft.com/office/drawing/2014/main" id="{DCE10DB6-C1EA-C5CA-2E03-4E9754BCBF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Exercise 4</a:t>
            </a:r>
            <a:endParaRPr dirty="0"/>
          </a:p>
        </p:txBody>
      </p:sp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76C9C275-00B4-E9B6-856C-BBA31B26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6053474" cy="3784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SG" sz="1400" dirty="0"/>
              <a:t>4. After checkout, create an order and allow the user to view past orders at /orders (protected API).</a:t>
            </a:r>
          </a:p>
          <a:p>
            <a:pPr marL="0" lvl="0" indent="0">
              <a:buNone/>
            </a:pPr>
            <a:endParaRPr lang="en-SG" sz="1400" dirty="0"/>
          </a:p>
          <a:p>
            <a:pPr marL="0" indent="0">
              <a:buNone/>
            </a:pPr>
            <a:r>
              <a:rPr lang="en-SG" sz="1400" b="1" dirty="0"/>
              <a:t>Part C: </a:t>
            </a:r>
          </a:p>
          <a:p>
            <a:pPr marL="0" indent="0">
              <a:buNone/>
            </a:pPr>
            <a:r>
              <a:rPr lang="en-SG" sz="1400" dirty="0"/>
              <a:t>Update </a:t>
            </a:r>
            <a:r>
              <a:rPr lang="en-SG" sz="1400" b="1" dirty="0"/>
              <a:t>router/</a:t>
            </a:r>
            <a:r>
              <a:rPr lang="en-SG" sz="1400" b="1" dirty="0" err="1"/>
              <a:t>index.js</a:t>
            </a:r>
            <a:r>
              <a:rPr lang="en-SG" sz="1400" b="1" dirty="0"/>
              <a:t> </a:t>
            </a:r>
            <a:r>
              <a:rPr lang="en-SG" sz="1400" dirty="0"/>
              <a:t>to add </a:t>
            </a:r>
            <a:r>
              <a:rPr lang="en-SG" sz="1400" b="1" dirty="0"/>
              <a:t>/orders </a:t>
            </a:r>
            <a:r>
              <a:rPr lang="en-SG" sz="1400" dirty="0"/>
              <a:t>route</a:t>
            </a:r>
            <a:endParaRPr lang="en-SG" sz="1400" b="1" dirty="0"/>
          </a:p>
          <a:p>
            <a:pPr marL="742950" lvl="1" indent="-285750">
              <a:spcBef>
                <a:spcPts val="0"/>
              </a:spcBef>
            </a:pPr>
            <a:r>
              <a:rPr lang="en-SG" dirty="0"/>
              <a:t>This component should display the user’s order history, using the orders store created in Part B</a:t>
            </a:r>
          </a:p>
          <a:p>
            <a:pPr marL="742950" lvl="1" indent="-285750">
              <a:spcBef>
                <a:spcPts val="0"/>
              </a:spcBef>
            </a:pPr>
            <a:r>
              <a:rPr lang="en-SG" dirty="0"/>
              <a:t>The route should be protected, i.e., only authenticated user (similar to protecting</a:t>
            </a:r>
            <a:r>
              <a:rPr lang="en-SG" b="1" dirty="0"/>
              <a:t> /cart </a:t>
            </a:r>
            <a:r>
              <a:rPr lang="en-SG" dirty="0"/>
              <a:t>route)</a:t>
            </a:r>
          </a:p>
          <a:p>
            <a:pPr marL="0" indent="0">
              <a:buNone/>
            </a:pPr>
            <a:endParaRPr lang="en-SG" sz="1400" dirty="0"/>
          </a:p>
          <a:p>
            <a:pPr marL="285750" indent="-285750"/>
            <a:endParaRPr lang="en-SG" sz="1400" dirty="0"/>
          </a:p>
          <a:p>
            <a:pPr marL="0" lvl="0" indent="0">
              <a:buNone/>
            </a:pPr>
            <a:r>
              <a:rPr lang="en-SG" sz="1400" b="1" dirty="0"/>
              <a:t>Part D:</a:t>
            </a:r>
          </a:p>
          <a:p>
            <a:pPr marL="0" lvl="0" indent="0">
              <a:buNone/>
            </a:pPr>
            <a:r>
              <a:rPr lang="en-SG" sz="1400" dirty="0"/>
              <a:t>Update </a:t>
            </a:r>
            <a:r>
              <a:rPr lang="en-SG" sz="1400" dirty="0" err="1"/>
              <a:t>NavBar</a:t>
            </a:r>
            <a:r>
              <a:rPr lang="en-SG" sz="1400" dirty="0"/>
              <a:t> to include Orders link</a:t>
            </a:r>
          </a:p>
          <a:p>
            <a:pPr marL="285750" indent="-285750"/>
            <a:r>
              <a:rPr lang="en-SG" sz="1400" dirty="0"/>
              <a:t>In </a:t>
            </a:r>
            <a:r>
              <a:rPr lang="en-SG" sz="1400" b="1" dirty="0"/>
              <a:t>components/</a:t>
            </a:r>
            <a:r>
              <a:rPr lang="en-SG" sz="1400" b="1" dirty="0" err="1"/>
              <a:t>NavBar.vue</a:t>
            </a:r>
            <a:r>
              <a:rPr lang="en-SG" sz="1400" dirty="0"/>
              <a:t>, add the link to the new </a:t>
            </a:r>
            <a:r>
              <a:rPr lang="en-SG" sz="1400" b="1" dirty="0"/>
              <a:t>/orders </a:t>
            </a:r>
            <a:r>
              <a:rPr lang="en-SG" sz="1400" dirty="0"/>
              <a:t>route created in </a:t>
            </a:r>
            <a:r>
              <a:rPr lang="en-SG" sz="1400" b="1" dirty="0"/>
              <a:t>Part C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C81F82A-B49D-040A-C95D-3EE0729FEE4D}"/>
              </a:ext>
            </a:extLst>
          </p:cNvPr>
          <p:cNvSpPr txBox="1">
            <a:spLocks/>
          </p:cNvSpPr>
          <p:nvPr/>
        </p:nvSpPr>
        <p:spPr>
          <a:xfrm>
            <a:off x="4882095" y="1225225"/>
            <a:ext cx="3999900" cy="36023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buNone/>
            </a:pP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84851-65EA-0F20-133A-176097E9E1CA}"/>
              </a:ext>
            </a:extLst>
          </p:cNvPr>
          <p:cNvSpPr txBox="1"/>
          <p:nvPr/>
        </p:nvSpPr>
        <p:spPr>
          <a:xfrm>
            <a:off x="6282047" y="1225225"/>
            <a:ext cx="2550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Check out this video for the expected app behavior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77682-6770-1A3A-A297-EA81FA254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195" y="3918275"/>
            <a:ext cx="50038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135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Away Message</a:t>
            </a:r>
            <a:endParaRPr/>
          </a:p>
        </p:txBody>
      </p:sp>
      <p:sp>
        <p:nvSpPr>
          <p:cNvPr id="248" name="Google Shape;248;p3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4499997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SG" sz="1200" b="1" dirty="0"/>
              <a:t>State management solves shared-data problems in SPAs:</a:t>
            </a:r>
            <a:r>
              <a:rPr lang="en-SG" sz="1200" dirty="0"/>
              <a:t> when multiple components/pages need the same data (e.g., cart count, user session, product list), using a store avoids prop drilling and keeps the app easier to maintain.</a:t>
            </a:r>
          </a:p>
          <a:p>
            <a:pPr marL="114300" indent="0">
              <a:buNone/>
            </a:pPr>
            <a:endParaRPr lang="en-SG" sz="1200" dirty="0"/>
          </a:p>
          <a:p>
            <a:pPr marL="114300" indent="0">
              <a:buNone/>
            </a:pPr>
            <a:r>
              <a:rPr lang="en-SG" sz="1200" b="1" dirty="0" err="1"/>
              <a:t>Pinia</a:t>
            </a:r>
            <a:r>
              <a:rPr lang="en-SG" sz="1200" b="1" dirty="0"/>
              <a:t> provides a clean structure for app-level logic:</a:t>
            </a:r>
            <a:r>
              <a:rPr lang="en-SG" sz="1200" dirty="0"/>
              <a:t> use </a:t>
            </a:r>
            <a:r>
              <a:rPr lang="en-SG" sz="1200" b="1" dirty="0"/>
              <a:t>state</a:t>
            </a:r>
            <a:r>
              <a:rPr lang="en-SG" sz="1200" dirty="0"/>
              <a:t> for shared reactive data, </a:t>
            </a:r>
            <a:r>
              <a:rPr lang="en-SG" sz="1200" b="1" dirty="0"/>
              <a:t>getters</a:t>
            </a:r>
            <a:r>
              <a:rPr lang="en-SG" sz="1200" dirty="0"/>
              <a:t> for derived/computed values (e.g., total price), and </a:t>
            </a:r>
            <a:r>
              <a:rPr lang="en-SG" sz="1200" b="1" dirty="0"/>
              <a:t>actions</a:t>
            </a:r>
            <a:r>
              <a:rPr lang="en-SG" sz="1200" dirty="0"/>
              <a:t> for business logic and async API calls.</a:t>
            </a:r>
          </a:p>
        </p:txBody>
      </p:sp>
      <p:sp>
        <p:nvSpPr>
          <p:cNvPr id="2" name="Google Shape;211;p34">
            <a:extLst>
              <a:ext uri="{FF2B5EF4-FFF2-40B4-BE49-F238E27FC236}">
                <a16:creationId xmlns:a16="http://schemas.microsoft.com/office/drawing/2014/main" id="{BB62A037-A179-7D9C-8177-5993A1F6C19F}"/>
              </a:ext>
            </a:extLst>
          </p:cNvPr>
          <p:cNvSpPr txBox="1">
            <a:spLocks/>
          </p:cNvSpPr>
          <p:nvPr/>
        </p:nvSpPr>
        <p:spPr>
          <a:xfrm>
            <a:off x="4879823" y="1272772"/>
            <a:ext cx="4273056" cy="358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None/>
            </a:pPr>
            <a:r>
              <a:rPr lang="en-SG" sz="1200" b="1" dirty="0"/>
              <a:t>Stores integrate naturally with routing:</a:t>
            </a:r>
            <a:r>
              <a:rPr lang="en-SG" sz="1200" dirty="0"/>
              <a:t> views can fetch data on </a:t>
            </a:r>
            <a:r>
              <a:rPr lang="en-SG" sz="1200" b="1" dirty="0" err="1"/>
              <a:t>onMounted</a:t>
            </a:r>
            <a:r>
              <a:rPr lang="en-SG" sz="1200" b="1" dirty="0"/>
              <a:t>()</a:t>
            </a:r>
            <a:r>
              <a:rPr lang="en-SG" sz="1200" dirty="0"/>
              <a:t>, reuse cached store data across routes, and reactively update the UI everywhere (Navbar, pages, components) whenever store state changes.</a:t>
            </a:r>
          </a:p>
          <a:p>
            <a:pPr marL="114300" indent="0">
              <a:buNone/>
            </a:pPr>
            <a:endParaRPr lang="en-SG" sz="1200" dirty="0"/>
          </a:p>
          <a:p>
            <a:pPr marL="114300" indent="0">
              <a:buNone/>
            </a:pPr>
            <a:r>
              <a:rPr lang="en-SG" sz="1200" b="1" dirty="0"/>
              <a:t>Route guards control navigation based on store state:</a:t>
            </a:r>
            <a:r>
              <a:rPr lang="en-SG" sz="1200" dirty="0"/>
              <a:t> use route </a:t>
            </a:r>
            <a:r>
              <a:rPr lang="en-SG" sz="1200" b="1" dirty="0"/>
              <a:t>meta</a:t>
            </a:r>
            <a:r>
              <a:rPr lang="en-SG" sz="1200" dirty="0"/>
              <a:t> flags (e.g., </a:t>
            </a:r>
            <a:r>
              <a:rPr lang="en-SG" sz="1200" b="1" dirty="0" err="1"/>
              <a:t>requiresAuth</a:t>
            </a:r>
            <a:r>
              <a:rPr lang="en-SG" sz="1200" dirty="0"/>
              <a:t>, </a:t>
            </a:r>
            <a:r>
              <a:rPr lang="en-SG" sz="1200" b="1" dirty="0" err="1"/>
              <a:t>requiresRole</a:t>
            </a:r>
            <a:r>
              <a:rPr lang="en-SG" sz="1200" dirty="0"/>
              <a:t>) with </a:t>
            </a:r>
            <a:r>
              <a:rPr lang="en-SG" sz="1200" b="1" dirty="0" err="1"/>
              <a:t>router.beforeEach</a:t>
            </a:r>
            <a:r>
              <a:rPr lang="en-SG" sz="1200" b="1" dirty="0"/>
              <a:t>()</a:t>
            </a:r>
            <a:r>
              <a:rPr lang="en-SG" sz="1200" dirty="0"/>
              <a:t> to protect routes and apply the “redirect back after login” pattern.</a:t>
            </a:r>
          </a:p>
          <a:p>
            <a:pPr marL="114300" indent="0">
              <a:buNone/>
            </a:pPr>
            <a:r>
              <a:rPr lang="en-SG" sz="1200" b="1" dirty="0"/>
              <a:t>Good UX requires handling real-world situations:</a:t>
            </a:r>
            <a:r>
              <a:rPr lang="en-SG" sz="1200" dirty="0"/>
              <a:t> manage </a:t>
            </a:r>
            <a:r>
              <a:rPr lang="en-SG" sz="1200" b="1" dirty="0"/>
              <a:t>loading/error states</a:t>
            </a:r>
            <a:r>
              <a:rPr lang="en-SG" sz="1200" dirty="0"/>
              <a:t>, persist key state when needed (cart/auth via </a:t>
            </a:r>
            <a:r>
              <a:rPr lang="en-SG" sz="1200" b="1" dirty="0" err="1"/>
              <a:t>localStorage</a:t>
            </a:r>
            <a:r>
              <a:rPr lang="en-SG" sz="1200" dirty="0"/>
              <a:t>), and remember that guards are for UX—</a:t>
            </a:r>
            <a:r>
              <a:rPr lang="en-SG" sz="1200" b="1" dirty="0"/>
              <a:t>backend APIs must still enforce authentication/authorization</a:t>
            </a:r>
            <a:r>
              <a:rPr lang="en-SG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4472713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6AD1B51FFACD45B62528B91A79C429" ma:contentTypeVersion="22" ma:contentTypeDescription="Create a new document." ma:contentTypeScope="" ma:versionID="bde758018527673dec61c043b0c1aa53">
  <xsd:schema xmlns:xsd="http://www.w3.org/2001/XMLSchema" xmlns:xs="http://www.w3.org/2001/XMLSchema" xmlns:p="http://schemas.microsoft.com/office/2006/metadata/properties" xmlns:ns1="http://schemas.microsoft.com/sharepoint/v3" xmlns:ns2="1b6a39ee-1380-4096-9882-8248104ba7f7" xmlns:ns3="4604cec2-e769-4190-9d56-5d48f74b6442" targetNamespace="http://schemas.microsoft.com/office/2006/metadata/properties" ma:root="true" ma:fieldsID="1b7d64c108a8f78d9a38448273c78380" ns1:_="" ns2:_="" ns3:_="">
    <xsd:import namespace="http://schemas.microsoft.com/sharepoint/v3"/>
    <xsd:import namespace="1b6a39ee-1380-4096-9882-8248104ba7f7"/>
    <xsd:import namespace="4604cec2-e769-4190-9d56-5d48f74b64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Comment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39ee-1380-4096-9882-8248104ba7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Comment" ma:index="21" nillable="true" ma:displayName="Comment" ma:description="What was the last change about" ma:format="Dropdown" ma:internalName="Comment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04cec2-e769-4190-9d56-5d48f74b644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943aed9-ec56-40d8-95cb-c4327e5e8870}" ma:internalName="TaxCatchAll" ma:showField="CatchAllData" ma:web="4604cec2-e769-4190-9d56-5d48f74b64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Comment xmlns="1b6a39ee-1380-4096-9882-8248104ba7f7" xsi:nil="true"/>
    <_Flow_SignoffStatus xmlns="1b6a39ee-1380-4096-9882-8248104ba7f7" xsi:nil="true"/>
    <_ip_UnifiedCompliancePolicyProperties xmlns="http://schemas.microsoft.com/sharepoint/v3" xsi:nil="true"/>
    <TaxCatchAll xmlns="4604cec2-e769-4190-9d56-5d48f74b6442" xsi:nil="true"/>
    <lcf76f155ced4ddcb4097134ff3c332f xmlns="1b6a39ee-1380-4096-9882-8248104ba7f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E5364C-13B9-49B8-828B-0474A03302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b6a39ee-1380-4096-9882-8248104ba7f7"/>
    <ds:schemaRef ds:uri="4604cec2-e769-4190-9d56-5d48f74b64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B6F270-59C3-4CBB-986C-3509DEDF06E9}">
  <ds:schemaRefs>
    <ds:schemaRef ds:uri="4604cec2-e769-4190-9d56-5d48f74b6442"/>
    <ds:schemaRef ds:uri="1b6a39ee-1380-4096-9882-8248104ba7f7"/>
    <ds:schemaRef ds:uri="http://www.w3.org/XML/1998/namespace"/>
    <ds:schemaRef ds:uri="http://purl.org/dc/terms/"/>
    <ds:schemaRef ds:uri="http://schemas.microsoft.com/sharepoint/v3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90F50C1-7792-4D77-9B85-9333D6411F9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951d41b-6b8e-4636-984f-012bff14ba18}" enabled="1" method="Privilege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15265</TotalTime>
  <Words>4973</Words>
  <Application>Microsoft Macintosh PowerPoint</Application>
  <PresentationFormat>On-screen Show (16:9)</PresentationFormat>
  <Paragraphs>741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Calibri</vt:lpstr>
      <vt:lpstr>Open Sans</vt:lpstr>
      <vt:lpstr>Wingdings</vt:lpstr>
      <vt:lpstr>Economica</vt:lpstr>
      <vt:lpstr>Symbol</vt:lpstr>
      <vt:lpstr>Arial</vt:lpstr>
      <vt:lpstr>Luxe</vt:lpstr>
      <vt:lpstr>Web Application Development II</vt:lpstr>
      <vt:lpstr>Agenda</vt:lpstr>
      <vt:lpstr>(Optional) What is Composable?</vt:lpstr>
      <vt:lpstr>(Optional) Usage of Composable</vt:lpstr>
      <vt:lpstr>What is State Management?</vt:lpstr>
      <vt:lpstr>The Problem without a Store (Prop Drilling)</vt:lpstr>
      <vt:lpstr>What Pinia Provides</vt:lpstr>
      <vt:lpstr>When Should You Use a Store</vt:lpstr>
      <vt:lpstr>Running Example (1)</vt:lpstr>
      <vt:lpstr>Running Example (2)</vt:lpstr>
      <vt:lpstr>Running Example (3)</vt:lpstr>
      <vt:lpstr>Running Example (4)</vt:lpstr>
      <vt:lpstr>Running Example (5)</vt:lpstr>
      <vt:lpstr>Setting Up (1)</vt:lpstr>
      <vt:lpstr>Setting Up (2)</vt:lpstr>
      <vt:lpstr>Pinia Setup</vt:lpstr>
      <vt:lpstr>Defining a Store</vt:lpstr>
      <vt:lpstr>Setup the Store</vt:lpstr>
      <vt:lpstr>Using a Store</vt:lpstr>
      <vt:lpstr>States: Accessing the State Property</vt:lpstr>
      <vt:lpstr>States: in Template</vt:lpstr>
      <vt:lpstr>States: for Data Binding</vt:lpstr>
      <vt:lpstr>Getters: Computed Property</vt:lpstr>
      <vt:lpstr>Actions</vt:lpstr>
      <vt:lpstr>Actions: Invoking Actions</vt:lpstr>
      <vt:lpstr>Routing (revisit Week4 lecture)</vt:lpstr>
      <vt:lpstr>Routing: with Parameter (revisit Week4 lecture) </vt:lpstr>
      <vt:lpstr>Routing: Redirect (1) (revisit Week4 lecture)</vt:lpstr>
      <vt:lpstr>Routing: Redirect (2)</vt:lpstr>
      <vt:lpstr>Routing: Navigation Guard (1)</vt:lpstr>
      <vt:lpstr>Routing: Navigation Guard (2)</vt:lpstr>
      <vt:lpstr>Routing: Navigation Guard (3)</vt:lpstr>
      <vt:lpstr>Demo (1)</vt:lpstr>
      <vt:lpstr>Demo (2)</vt:lpstr>
      <vt:lpstr>Demo (3)</vt:lpstr>
      <vt:lpstr>Demo (4)</vt:lpstr>
      <vt:lpstr>Exercises</vt:lpstr>
      <vt:lpstr>Exercise 1</vt:lpstr>
      <vt:lpstr>Exercise 2</vt:lpstr>
      <vt:lpstr>Exercise 2 (continue)</vt:lpstr>
      <vt:lpstr>Exercise 2 (continue)</vt:lpstr>
      <vt:lpstr>Exercise 3</vt:lpstr>
      <vt:lpstr>Exercise 3 (continue)</vt:lpstr>
      <vt:lpstr>Exercise 4</vt:lpstr>
      <vt:lpstr>Exercise 4</vt:lpstr>
      <vt:lpstr>Exercise 4</vt:lpstr>
      <vt:lpstr>Exercise 4</vt:lpstr>
      <vt:lpstr>Take Away Message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Development II</dc:title>
  <cp:lastModifiedBy>SHAR Lwin Khin</cp:lastModifiedBy>
  <cp:revision>152</cp:revision>
  <dcterms:modified xsi:type="dcterms:W3CDTF">2026-10-22T14:13:04Z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1d41b-6b8e-4636-984f-012bff14ba18_Enabled">
    <vt:lpwstr>true</vt:lpwstr>
  </property>
  <property fmtid="{D5CDD505-2E9C-101B-9397-08002B2CF9AE}" pid="3" name="MSIP_Label_6951d41b-6b8e-4636-984f-012bff14ba18_SetDate">
    <vt:lpwstr>2022-06-26T14:24:51Z</vt:lpwstr>
  </property>
  <property fmtid="{D5CDD505-2E9C-101B-9397-08002B2CF9AE}" pid="4" name="MSIP_Label_6951d41b-6b8e-4636-984f-012bff14ba18_Method">
    <vt:lpwstr>Privileged</vt:lpwstr>
  </property>
  <property fmtid="{D5CDD505-2E9C-101B-9397-08002B2CF9AE}" pid="5" name="MSIP_Label_6951d41b-6b8e-4636-984f-012bff14ba18_Name">
    <vt:lpwstr>6951d41b-6b8e-4636-984f-012bff14ba18</vt:lpwstr>
  </property>
  <property fmtid="{D5CDD505-2E9C-101B-9397-08002B2CF9AE}" pid="6" name="MSIP_Label_6951d41b-6b8e-4636-984f-012bff14ba18_SiteId">
    <vt:lpwstr>c98a79ca-5a9a-4791-a243-f06afd67464d</vt:lpwstr>
  </property>
  <property fmtid="{D5CDD505-2E9C-101B-9397-08002B2CF9AE}" pid="7" name="MSIP_Label_6951d41b-6b8e-4636-984f-012bff14ba18_ActionId">
    <vt:lpwstr>db22c2e7-2ccc-4d4e-9b34-85c5900ac40e</vt:lpwstr>
  </property>
  <property fmtid="{D5CDD505-2E9C-101B-9397-08002B2CF9AE}" pid="8" name="MSIP_Label_6951d41b-6b8e-4636-984f-012bff14ba18_ContentBits">
    <vt:lpwstr>1</vt:lpwstr>
  </property>
  <property fmtid="{D5CDD505-2E9C-101B-9397-08002B2CF9AE}" pid="9" name="ClassificationContentMarkingHeaderLocations">
    <vt:lpwstr>Luxe:3</vt:lpwstr>
  </property>
  <property fmtid="{D5CDD505-2E9C-101B-9397-08002B2CF9AE}" pid="10" name="ClassificationContentMarkingHeaderText">
    <vt:lpwstr>SMU Classification: Restricted</vt:lpwstr>
  </property>
  <property fmtid="{D5CDD505-2E9C-101B-9397-08002B2CF9AE}" pid="11" name="ContentTypeId">
    <vt:lpwstr>0x0101000C6AD1B51FFACD45B62528B91A79C429</vt:lpwstr>
  </property>
  <property fmtid="{D5CDD505-2E9C-101B-9397-08002B2CF9AE}" pid="12" name="MediaServiceImageTags">
    <vt:lpwstr/>
  </property>
</Properties>
</file>